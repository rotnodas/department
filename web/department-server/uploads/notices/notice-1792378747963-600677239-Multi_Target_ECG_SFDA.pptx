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3126906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thesis scope: extend the ECG UDA work using the target-only adaptation mechanism in the EEG SFDA paper. Here multi-target means joint adaptation of one shared model with access to several unlabeled target domains. This is a proposed design choice. Independent target-specific adaptations will serve as controls. The core task is closed-set N/V/S/F classification. Unknown-arrhythmia detection is outside this core proposal. No experiments or measured improvements are claimed.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89580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https://doi.org/10.1016/j.eswa.2023.122960</a:t>
            </a:r>
          </a:p>
          <a:p>
            <a:r>
              <a:t>Full-text preprint: https://arxiv.org/pdf/2306.04433</a:t>
            </a:r>
          </a:p>
          <a:p>
            <a:r>
              <a:t>[2] https://arxiv.org/html/2504.03707v2</a:t>
            </a:r>
          </a:p>
          <a:p>
            <a:r>
              <a:t>The source-data-access difference motivates the proposal. A source-free multi-target task already exists in the wider literature, including CoNMix. The contribution sought here concerns ECG performance under the specified protocol. It is not a claim to invent multi-target SFDA.</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68934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planned source and leads follow the ECG paper experimental setting, particularly Section 4.3. Sources: https://arxiv.org/pdf/2306.04433</a:t>
            </a:r>
          </a:p>
          <a:p>
            <a:r>
              <a:t>Dataset pages:</a:t>
            </a:r>
          </a:p>
          <a:p>
            <a:r>
              <a:t>https://physionet.org/content/mitdb/1.0.0/</a:t>
            </a:r>
          </a:p>
          <a:p>
            <a:r>
              <a:t>https://physionet.org/content/incartdb/1.0.0/</a:t>
            </a:r>
          </a:p>
          <a:p>
            <a:r>
              <a:t>https://physionet.org/content/edb/1.0.0/</a:t>
            </a:r>
          </a:p>
          <a:p>
            <a:r>
              <a:t>The original protocol labels the source lead MLII. Audit actual per-record headers and lead availability before fixing the cohort. T1 and T2 contain correlated leads from the same INCART recordings and must remain in the same patient/record split. Class definitions: N is the normal-type AAMI group, V ventricular ectopic, S supraventricular ectopic, and F fusion. Audit class support per target. No raw source samples, source labels, or source feature bank may be accessed during adaptation. Retain the checkpoint and fixed preprocessing settings. This is an offline joint-adaptation proposal, not an unseen-domain generalization claim.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36825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for the backbone and target-only transfer baseline: [1] https://arxiv.org/pdf/2306.04433</a:t>
            </a:r>
          </a:p>
          <a:p>
            <a:r>
              <a:t>[2] https://arxiv.org/html/2504.03707v2</a:t>
            </a:r>
          </a:p>
          <a:p>
            <a:r>
              <a:t>DLAR means Dual-Loss Adaptive Regularization. LCL means Localized Consistency Learning. The EEG method supplies a baseline mechanism, while ECG retains its signal backbone and timing features. The joint training design and class-adaptive filtering are proposed additions, not published results of this project. Balance target-domain sampling so the largest target does not dominate. Estimate reliability separately per target. Refresh pseudo-labels and target-local neighbor information without source replay. Final confidence rules, loss weights, and update schedule remain to be chosen through controlled experiments. Avoid a uniform class-prior assumption for heavily imbalanced ECG targets.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87110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EEG-to-ECG SFDA transfer baseline: https://arxiv.org/html/2504.03707v2</a:t>
            </a:r>
          </a:p>
          <a:p>
            <a:r>
              <a:t>[3] SHOT: https://proceedings.mlr.press/v119/liang20a.html</a:t>
            </a:r>
          </a:p>
          <a:p>
            <a:r>
              <a:t>[4] CoNMix: https://openaccess.thecvf.com/content/WACV2023/html/Kumar_CoNMix_for_Source-Free_Single_and_Multi-Target_Domain_Adaptation_WACV_2023_paper.html</a:t>
            </a:r>
          </a:p>
          <a:p>
            <a:r>
              <a:t>Adapt these general-domain baselines to the same ECG input and common source checkpoint where their design permits. Independent ECG SFDA creates one adaptation per target, whereas the proposed joint method produces one shared model. The naive pooled control uses the same core SFDA losses with size-proportional sampling and no proposed reliability controls. All comparisons use matched preprocessing, source splits, and target information budgets. The primary protocol is inductive: hold target test patients/records out of adaptation. Tune using source validation or a predeclared unlabeled selection rule, never final target labels. For minority classes, use pseudo-label-driven decisions rather than true target-label resampling. Compare independent and joint training with controlled compute budgets and report their costs. Aggregate macro-F1 with equal weight per target and report its minimum. Specify zero-support class handling before evaluation. Report repeated-seed variation and grouped confidence intervals. Treat original UDA results as a source-access context reference, not as a directly equivalent source-free result.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77060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hypotheses and intended contributions. Joint adaptation may help some target domains and harm others. Evaluate per-target changes relative to both the source-only model and independent SFDA. The proposed work remains within the source-free extension of the original ECG domain-adaptation task. A publication contribution requires evidence beyond a faithful transfer of DLAR/LCL, including strong baselines and ablations. No improvement, novelty priority, clinical readiness, or journal acceptance is claimed.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95796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Md. Niaz Imtiaz and Naimul Khan, Expert Systems with Applications, volume 244, article 122960, 2024. DOI: 10.1016/j.eswa.2023.122960. https://doi.org/10.1016/j.eswa.2023.122960</a:t>
            </a:r>
          </a:p>
          <a:p>
            <a:r>
              <a:t>[2] Md Niaz Imtiaz and Naimul Khan, arXiv:2504.03707v2. https://arxiv.org/html/2504.03707v2</a:t>
            </a:r>
          </a:p>
          <a:p>
            <a:r>
              <a:t>[3] Jian Liang, Dapeng Hu, and Jiashi Feng, ICML 2020, PMLR 119:6028-6039. https://proceedings.mlr.press/v119/liang20a.html</a:t>
            </a:r>
          </a:p>
          <a:p>
            <a:r>
              <a:t>[4] Vikash Kumar, Rohit Lal, Himanshu Patil, and Anirban Chakraborty, WACV 2023, pp. 4178-4188. https://openaccess.thecvf.com/content/WACV2023/html/Kumar_CoNMix_for_Source-Free_Single_and_Multi-Target_Domain_Adaptation_WACV_2023_paper.html</a:t>
            </a:r>
          </a:p>
          <a:p>
            <a:r>
              <a:t>Dataset documentation: https://physionet.org/content/mitdb/1.0.0/ ; https://physionet.org/content/incartdb/1.0.0/ ; https://physionet.org/content/edb/1.0.0/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0103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B8A90D30-A65A-4D5A-B3A1-908BF3FEC34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xmlns="" id="{9BED55A1-44FE-485F-B889-42FBA629EB1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xmlns="" id="{620DF783-3517-460F-926D-30C1DE88E5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F1076ABB-6E44-4D96-964C-E806ADB071D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xmlns="" id="{A7D53835-3FDA-495F-9AD1-B0232F590B6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xmlns="" id="{DC3798CB-C36F-4BE1-A731-C87926518C0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xmlns="" id="{2B6A9E8F-60E2-4D0E-932F-8B4583CACFE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xmlns="" id="{4FED36E1-9CEE-4C23-8F91-0657EE54403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2695F373-B00B-4E9E-A9F6-42A7A678299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xmlns="" id="{9AD8ED1B-EC81-4419-A32E-8DC377C8109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16/j.eswa.2023.122960"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hyperlink" Target="https://openaccess.thecvf.com/content/WACV2023/html/Kumar_CoNMix_for_Source-Free_Single_and_Multi-Target_Domain_Adaptation_WACV_2023_paper.html" TargetMode="External"/><Relationship Id="rId5" Type="http://schemas.openxmlformats.org/officeDocument/2006/relationships/hyperlink" Target="https://proceedings.mlr.press/v119/liang20a.html" TargetMode="External"/><Relationship Id="rId4" Type="http://schemas.openxmlformats.org/officeDocument/2006/relationships/hyperlink" Target="https://arxiv.org/html/2504.03707v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D3A"/>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xmlns="" id="{E89B7752-181D-4716-B754-5B4FFC82510C}"/>
              </a:ext>
            </a:extLst>
          </p:cNvPr>
          <p:cNvSpPr>
            <a:spLocks noGrp="1"/>
          </p:cNvSpPr>
          <p:nvPr/>
        </p:nvSpPr>
        <p:spPr>
          <a:xfrm>
            <a:off x="685800" y="1026502"/>
            <a:ext cx="10629900" cy="1066800"/>
          </a:xfrm>
          <a:prstGeom prst="rect">
            <a:avLst/>
          </a:prstGeom>
          <a:noFill/>
          <a:ln w="0">
            <a:noFill/>
          </a:ln>
        </p:spPr>
        <p:txBody>
          <a:bodyPr lIns="0" tIns="0" rIns="0" bIns="0" anchor="t">
            <a:noAutofit/>
          </a:bodyPr>
          <a:lstStyle>
            <a:defPPr algn="l">
              <a:defRPr sz="5700" b="1">
                <a:solidFill>
                  <a:srgbClr val="FFFFFF"/>
                </a:solidFill>
                <a:latin typeface="Nimbus Sans"/>
                <a:ea typeface="Nimbus Sans"/>
                <a:cs typeface="Nimbus Sans"/>
              </a:defRPr>
            </a:defPPr>
          </a:lstStyle>
          <a:p>
            <a:pPr algn="l">
              <a:defRPr sz="5700" b="1">
                <a:solidFill>
                  <a:srgbClr val="FFFFFF"/>
                </a:solidFill>
                <a:latin typeface="Nimbus Sans"/>
                <a:ea typeface="Nimbus Sans"/>
                <a:cs typeface="Nimbus Sans"/>
              </a:defRPr>
            </a:pPr>
            <a:r>
              <a:rPr sz="5700" b="1" dirty="0">
                <a:solidFill>
                  <a:srgbClr val="FFFFFF"/>
                </a:solidFill>
                <a:latin typeface="Nimbus Sans"/>
                <a:ea typeface="Nimbus Sans"/>
                <a:cs typeface="Nimbus Sans"/>
              </a:rPr>
              <a:t>Multi-target ECG SFDA</a:t>
            </a:r>
          </a:p>
        </p:txBody>
      </p:sp>
      <p:sp>
        <p:nvSpPr>
          <p:cNvPr id="3" name="subtitle">
            <a:extLst>
              <a:ext uri="{FF2B5EF4-FFF2-40B4-BE49-F238E27FC236}">
                <a16:creationId xmlns:a16="http://schemas.microsoft.com/office/drawing/2014/main" xmlns="" id="{C6A64227-CFEE-4C40-B5C8-B6E8F1752D8D}"/>
              </a:ext>
            </a:extLst>
          </p:cNvPr>
          <p:cNvSpPr>
            <a:spLocks noGrp="1"/>
          </p:cNvSpPr>
          <p:nvPr/>
        </p:nvSpPr>
        <p:spPr>
          <a:xfrm>
            <a:off x="685800" y="2112352"/>
            <a:ext cx="10287000" cy="1143000"/>
          </a:xfrm>
          <a:prstGeom prst="rect">
            <a:avLst/>
          </a:prstGeom>
          <a:noFill/>
          <a:ln w="0">
            <a:noFill/>
          </a:ln>
        </p:spPr>
        <p:txBody>
          <a:bodyPr lIns="0" tIns="0" rIns="0" bIns="0" anchor="t">
            <a:noAutofit/>
          </a:bodyPr>
          <a:lstStyle>
            <a:defPPr algn="l">
              <a:defRPr sz="2700" b="0">
                <a:solidFill>
                  <a:srgbClr val="FFFFFF"/>
                </a:solidFill>
                <a:latin typeface="Nimbus Sans"/>
                <a:ea typeface="Nimbus Sans"/>
                <a:cs typeface="Nimbus Sans"/>
              </a:defRPr>
            </a:defPPr>
          </a:lstStyle>
          <a:p>
            <a:pPr algn="l">
              <a:defRPr sz="2700" b="0">
                <a:solidFill>
                  <a:srgbClr val="FFFFFF"/>
                </a:solidFill>
                <a:latin typeface="Nimbus Sans"/>
                <a:ea typeface="Nimbus Sans"/>
                <a:cs typeface="Nimbus Sans"/>
              </a:defRPr>
            </a:pPr>
            <a:r>
              <a:rPr sz="2700" b="0" dirty="0">
                <a:solidFill>
                  <a:srgbClr val="FFFFFF"/>
                </a:solidFill>
                <a:latin typeface="Nimbus Sans"/>
                <a:ea typeface="Nimbus Sans"/>
                <a:cs typeface="Nimbus Sans"/>
              </a:rPr>
              <a:t>Source-free domain adaptation for</a:t>
            </a:r>
          </a:p>
          <a:p>
            <a:pPr algn="l">
              <a:defRPr sz="2700" b="0">
                <a:solidFill>
                  <a:srgbClr val="FFFFFF"/>
                </a:solidFill>
                <a:latin typeface="Nimbus Sans"/>
                <a:ea typeface="Nimbus Sans"/>
                <a:cs typeface="Nimbus Sans"/>
              </a:defRPr>
            </a:pPr>
            <a:r>
              <a:rPr sz="2700" b="0" dirty="0">
                <a:solidFill>
                  <a:srgbClr val="FFFFFF"/>
                </a:solidFill>
                <a:latin typeface="Nimbus Sans"/>
                <a:ea typeface="Nimbus Sans"/>
                <a:cs typeface="Nimbus Sans"/>
              </a:rPr>
              <a:t>arrhythmia heartbeat classification</a:t>
            </a:r>
          </a:p>
        </p:txBody>
      </p:sp>
      <p:sp>
        <p:nvSpPr>
          <p:cNvPr id="4" name="scope">
            <a:extLst>
              <a:ext uri="{FF2B5EF4-FFF2-40B4-BE49-F238E27FC236}">
                <a16:creationId xmlns:a16="http://schemas.microsoft.com/office/drawing/2014/main" xmlns="" id="{22EC1AC7-AFC5-49B1-9456-79DF6B048FE3}"/>
              </a:ext>
            </a:extLst>
          </p:cNvPr>
          <p:cNvSpPr>
            <a:spLocks noGrp="1"/>
          </p:cNvSpPr>
          <p:nvPr/>
        </p:nvSpPr>
        <p:spPr>
          <a:xfrm>
            <a:off x="685800" y="3541835"/>
            <a:ext cx="10382250" cy="533400"/>
          </a:xfrm>
          <a:prstGeom prst="rect">
            <a:avLst/>
          </a:prstGeom>
          <a:noFill/>
          <a:ln w="0">
            <a:noFill/>
          </a:ln>
        </p:spPr>
        <p:txBody>
          <a:bodyPr lIns="0" tIns="0" rIns="0" bIns="0" anchor="t">
            <a:noAutofit/>
          </a:bodyPr>
          <a:lstStyle>
            <a:defPPr algn="l">
              <a:defRPr sz="2250" b="0">
                <a:solidFill>
                  <a:srgbClr val="B6DEDF"/>
                </a:solidFill>
                <a:latin typeface="Nimbus Sans"/>
                <a:ea typeface="Nimbus Sans"/>
                <a:cs typeface="Nimbus Sans"/>
              </a:defRPr>
            </a:defPPr>
          </a:lstStyle>
          <a:p>
            <a:pPr algn="l">
              <a:defRPr sz="2250" b="0">
                <a:solidFill>
                  <a:srgbClr val="B6DEDF"/>
                </a:solidFill>
                <a:latin typeface="Nimbus Sans"/>
                <a:ea typeface="Nimbus Sans"/>
                <a:cs typeface="Nimbus Sans"/>
              </a:defRPr>
            </a:pPr>
            <a:r>
              <a:rPr sz="2250" b="0" dirty="0">
                <a:solidFill>
                  <a:srgbClr val="B6DEDF"/>
                </a:solidFill>
                <a:latin typeface="Nimbus Sans"/>
                <a:ea typeface="Nimbus Sans"/>
                <a:cs typeface="Nimbus Sans"/>
              </a:rPr>
              <a:t>One shared model across unlabeled ECG domains</a:t>
            </a:r>
          </a:p>
        </p:txBody>
      </p:sp>
      <p:sp>
        <p:nvSpPr>
          <p:cNvPr id="5" name="author">
            <a:extLst>
              <a:ext uri="{FF2B5EF4-FFF2-40B4-BE49-F238E27FC236}">
                <a16:creationId xmlns:a16="http://schemas.microsoft.com/office/drawing/2014/main" xmlns="" id="{D58EB25C-A51A-4C65-968E-C531E7BBD37D}"/>
              </a:ext>
            </a:extLst>
          </p:cNvPr>
          <p:cNvSpPr>
            <a:spLocks noGrp="1"/>
          </p:cNvSpPr>
          <p:nvPr/>
        </p:nvSpPr>
        <p:spPr>
          <a:xfrm>
            <a:off x="685800" y="5439508"/>
            <a:ext cx="8001000" cy="390525"/>
          </a:xfrm>
          <a:prstGeom prst="rect">
            <a:avLst/>
          </a:prstGeom>
          <a:noFill/>
          <a:ln w="0">
            <a:noFill/>
          </a:ln>
        </p:spPr>
        <p:txBody>
          <a:bodyPr lIns="0" tIns="0" rIns="0" bIns="0" anchor="t">
            <a:noAutofit/>
          </a:bodyPr>
          <a:lstStyle>
            <a:defPPr algn="l">
              <a:defRPr sz="2025" b="0">
                <a:solidFill>
                  <a:srgbClr val="FFFFFF"/>
                </a:solidFill>
                <a:latin typeface="Nimbus Sans"/>
                <a:ea typeface="Nimbus Sans"/>
                <a:cs typeface="Nimbus Sans"/>
              </a:defRPr>
            </a:defPPr>
          </a:lstStyle>
          <a:p>
            <a:pPr algn="l">
              <a:defRPr sz="2025" b="0">
                <a:solidFill>
                  <a:srgbClr val="FFFFFF"/>
                </a:solidFill>
                <a:latin typeface="Nimbus Sans"/>
                <a:ea typeface="Nimbus Sans"/>
                <a:cs typeface="Nimbus Sans"/>
              </a:defRPr>
            </a:pPr>
            <a:r>
              <a:rPr lang="en-US" sz="2025" dirty="0" smtClean="0">
                <a:solidFill>
                  <a:srgbClr val="FFFFFF"/>
                </a:solidFill>
                <a:latin typeface="Nimbus Sans"/>
                <a:ea typeface="Nimbus Sans"/>
                <a:cs typeface="Nimbus Sans"/>
              </a:rPr>
              <a:t>Name: </a:t>
            </a:r>
            <a:r>
              <a:rPr lang="en-US" sz="2025" dirty="0" err="1" smtClean="0">
                <a:solidFill>
                  <a:srgbClr val="FFFFFF"/>
                </a:solidFill>
                <a:latin typeface="Nimbus Sans"/>
                <a:ea typeface="Nimbus Sans"/>
                <a:cs typeface="Nimbus Sans"/>
              </a:rPr>
              <a:t>Rotno</a:t>
            </a:r>
            <a:r>
              <a:rPr lang="en-US" sz="2025" dirty="0" smtClean="0">
                <a:solidFill>
                  <a:srgbClr val="FFFFFF"/>
                </a:solidFill>
                <a:latin typeface="Nimbus Sans"/>
                <a:ea typeface="Nimbus Sans"/>
                <a:cs typeface="Nimbus Sans"/>
              </a:rPr>
              <a:t> Chandra Das</a:t>
            </a:r>
            <a:r>
              <a:rPr lang="en-US" sz="2025" dirty="0">
                <a:solidFill>
                  <a:srgbClr val="FFFFFF"/>
                </a:solidFill>
                <a:latin typeface="Nimbus Sans"/>
                <a:ea typeface="Nimbus Sans"/>
                <a:cs typeface="Nimbus Sans"/>
              </a:rPr>
              <a:t> </a:t>
            </a:r>
            <a:r>
              <a:rPr lang="en-US" sz="2025" dirty="0" smtClean="0">
                <a:solidFill>
                  <a:srgbClr val="FFFFFF"/>
                </a:solidFill>
                <a:latin typeface="Nimbus Sans"/>
                <a:ea typeface="Nimbus Sans"/>
                <a:cs typeface="Nimbus Sans"/>
              </a:rPr>
              <a:t>            ID: 220106</a:t>
            </a:r>
          </a:p>
        </p:txBody>
      </p:sp>
    </p:spTree>
    <p:extLst>
      <p:ext uri="{BB962C8B-B14F-4D97-AF65-F5344CB8AC3E}">
        <p14:creationId xmlns:p14="http://schemas.microsoft.com/office/powerpoint/2010/main" val="825199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8"/>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xmlns="" id="{69B214D8-F916-407E-BB9C-2BFFA588CE4D}"/>
              </a:ext>
            </a:extLst>
          </p:cNvPr>
          <p:cNvSpPr>
            <a:spLocks noGrp="1"/>
          </p:cNvSpPr>
          <p:nvPr/>
        </p:nvSpPr>
        <p:spPr>
          <a:xfrm>
            <a:off x="723900" y="523875"/>
            <a:ext cx="10744200" cy="704850"/>
          </a:xfrm>
          <a:prstGeom prst="rect">
            <a:avLst/>
          </a:prstGeom>
          <a:noFill/>
          <a:ln w="0">
            <a:noFill/>
          </a:ln>
        </p:spPr>
        <p:txBody>
          <a:bodyPr lIns="0" tIns="0" rIns="0" bIns="0" anchor="t">
            <a:noAutofit/>
          </a:bodyPr>
          <a:lstStyle>
            <a:defPPr algn="l">
              <a:defRPr sz="3600" b="1">
                <a:solidFill>
                  <a:srgbClr val="102D3A"/>
                </a:solidFill>
                <a:latin typeface="Nimbus Sans"/>
                <a:ea typeface="Nimbus Sans"/>
                <a:cs typeface="Nimbus Sans"/>
              </a:defRPr>
            </a:defPPr>
          </a:lstStyle>
          <a:p>
            <a:pPr algn="l">
              <a:defRPr sz="3600" b="1">
                <a:solidFill>
                  <a:srgbClr val="102D3A"/>
                </a:solidFill>
                <a:latin typeface="Nimbus Sans"/>
                <a:ea typeface="Nimbus Sans"/>
                <a:cs typeface="Nimbus Sans"/>
              </a:defRPr>
            </a:pPr>
            <a:r>
              <a:rPr sz="3600" b="1">
                <a:solidFill>
                  <a:srgbClr val="102D3A"/>
                </a:solidFill>
                <a:latin typeface="Nimbus Sans"/>
                <a:ea typeface="Nimbus Sans"/>
                <a:cs typeface="Nimbus Sans"/>
              </a:rPr>
              <a:t>Research gap</a:t>
            </a:r>
          </a:p>
        </p:txBody>
      </p:sp>
      <p:sp>
        <p:nvSpPr>
          <p:cNvPr id="2" name="page-number">
            <a:extLst>
              <a:ext uri="{FF2B5EF4-FFF2-40B4-BE49-F238E27FC236}">
                <a16:creationId xmlns:a16="http://schemas.microsoft.com/office/drawing/2014/main" xmlns="" id="{E8B433FE-2098-4696-BE7C-3600249C4288}"/>
              </a:ext>
            </a:extLst>
          </p:cNvPr>
          <p:cNvSpPr>
            <a:spLocks noGrp="1"/>
          </p:cNvSpPr>
          <p:nvPr/>
        </p:nvSpPr>
        <p:spPr>
          <a:xfrm>
            <a:off x="11049000" y="6381750"/>
            <a:ext cx="457200" cy="257175"/>
          </a:xfrm>
          <a:prstGeom prst="rect">
            <a:avLst/>
          </a:prstGeom>
          <a:noFill/>
          <a:ln w="0">
            <a:noFill/>
          </a:ln>
        </p:spPr>
        <p:txBody>
          <a:bodyPr lIns="0" tIns="0" rIns="0" bIns="0" anchor="t">
            <a:noAutofit/>
          </a:bodyPr>
          <a:lstStyle>
            <a:defPPr algn="l">
              <a:defRPr sz="1350" b="0">
                <a:solidFill>
                  <a:srgbClr val="496371"/>
                </a:solidFill>
                <a:latin typeface="Nimbus Sans"/>
                <a:ea typeface="Nimbus Sans"/>
                <a:cs typeface="Nimbus Sans"/>
              </a:defRPr>
            </a:defPPr>
          </a:lstStyle>
          <a:p>
            <a:pPr algn="l">
              <a:defRPr sz="1350" b="0">
                <a:solidFill>
                  <a:srgbClr val="496371"/>
                </a:solidFill>
                <a:latin typeface="Nimbus Sans"/>
                <a:ea typeface="Nimbus Sans"/>
                <a:cs typeface="Nimbus Sans"/>
              </a:defRPr>
            </a:pPr>
            <a:r>
              <a:rPr sz="1350" b="0">
                <a:solidFill>
                  <a:srgbClr val="496371"/>
                </a:solidFill>
                <a:latin typeface="Nimbus Sans"/>
                <a:ea typeface="Nimbus Sans"/>
                <a:cs typeface="Nimbus Sans"/>
              </a:rPr>
              <a:t>02</a:t>
            </a:r>
          </a:p>
        </p:txBody>
      </p:sp>
      <p:sp>
        <p:nvSpPr>
          <p:cNvPr id="3" name="gap">
            <a:extLst>
              <a:ext uri="{FF2B5EF4-FFF2-40B4-BE49-F238E27FC236}">
                <a16:creationId xmlns:a16="http://schemas.microsoft.com/office/drawing/2014/main" xmlns="" id="{A476A04E-BBBC-4520-80F0-2E92DAC9CA10}"/>
              </a:ext>
            </a:extLst>
          </p:cNvPr>
          <p:cNvSpPr>
            <a:spLocks noGrp="1"/>
          </p:cNvSpPr>
          <p:nvPr/>
        </p:nvSpPr>
        <p:spPr>
          <a:xfrm>
            <a:off x="723900" y="1419225"/>
            <a:ext cx="10744200" cy="742950"/>
          </a:xfrm>
          <a:prstGeom prst="rect">
            <a:avLst/>
          </a:prstGeom>
          <a:noFill/>
          <a:ln w="0">
            <a:noFill/>
          </a:ln>
        </p:spPr>
        <p:txBody>
          <a:bodyPr lIns="0" tIns="0" rIns="0" bIns="0" anchor="t">
            <a:noAutofit/>
          </a:bodyPr>
          <a:lstStyle>
            <a:defPPr algn="l">
              <a:defRPr sz="2700" b="1">
                <a:solidFill>
                  <a:srgbClr val="057C80"/>
                </a:solidFill>
                <a:latin typeface="Nimbus Sans"/>
                <a:ea typeface="Nimbus Sans"/>
                <a:cs typeface="Nimbus Sans"/>
              </a:defRPr>
            </a:defPPr>
          </a:lstStyle>
          <a:p>
            <a:pPr algn="l">
              <a:defRPr sz="2700" b="1">
                <a:solidFill>
                  <a:srgbClr val="057C80"/>
                </a:solidFill>
                <a:latin typeface="Nimbus Sans"/>
                <a:ea typeface="Nimbus Sans"/>
                <a:cs typeface="Nimbus Sans"/>
              </a:defRPr>
            </a:pPr>
            <a:r>
              <a:rPr sz="2700" b="1">
                <a:solidFill>
                  <a:srgbClr val="057C80"/>
                </a:solidFill>
                <a:latin typeface="Nimbus Sans"/>
                <a:ea typeface="Nimbus Sans"/>
                <a:cs typeface="Nimbus Sans"/>
              </a:rPr>
              <a:t>Target-only adaptation across several ECG domains</a:t>
            </a:r>
          </a:p>
        </p:txBody>
      </p:sp>
      <p:graphicFrame>
        <p:nvGraphicFramePr>
          <p:cNvPr id="4" name="Table 3">
            <a:extLst>
              <a:ext uri="{FF2B5EF4-FFF2-40B4-BE49-F238E27FC236}">
                <a16:creationId xmlns:a16="http://schemas.microsoft.com/office/drawing/2014/main" xmlns="" id="{CB197786-B146-4997-ACE0-40730C7CE666}"/>
              </a:ext>
            </a:extLst>
          </p:cNvPr>
          <p:cNvGraphicFramePr/>
          <p:nvPr/>
        </p:nvGraphicFramePr>
        <p:xfrm>
          <a:off x="723900" y="2333625"/>
          <a:ext cx="10744200" cy="3092768"/>
        </p:xfrm>
        <a:graphic>
          <a:graphicData uri="http://schemas.openxmlformats.org/drawingml/2006/table">
            <a:tbl>
              <a:tblPr firstRow="1"/>
              <a:tblGrid>
                <a:gridCol w="2800350"/>
                <a:gridCol w="4391025"/>
                <a:gridCol w="3552825"/>
              </a:tblGrid>
              <a:tr h="738188">
                <a:tc>
                  <a:txBody>
                    <a:bodyPr/>
                    <a:lstStyle/>
                    <a:p>
                      <a:r>
                        <a:rPr sz="1950" b="1">
                          <a:solidFill>
                            <a:srgbClr val="FFFFFF"/>
                          </a:solidFill>
                          <a:latin typeface="Nimbus Sans"/>
                          <a:ea typeface="Nimbus Sans"/>
                          <a:cs typeface="Nimbus Sans"/>
                        </a:rPr>
                        <a:t>Foundation</a:t>
                      </a:r>
                    </a:p>
                  </a:txBody>
                  <a:tcPr marL="161925" marR="133350" marT="95250" marB="95250" anchor="ctr">
                    <a:solidFill>
                      <a:srgbClr val="102D3A"/>
                    </a:solidFill>
                  </a:tcPr>
                </a:tc>
                <a:tc>
                  <a:txBody>
                    <a:bodyPr/>
                    <a:lstStyle/>
                    <a:p>
                      <a:r>
                        <a:rPr sz="1950" b="1">
                          <a:solidFill>
                            <a:srgbClr val="FFFFFF"/>
                          </a:solidFill>
                          <a:latin typeface="Nimbus Sans"/>
                          <a:ea typeface="Nimbus Sans"/>
                          <a:cs typeface="Nimbus Sans"/>
                        </a:rPr>
                        <a:t>Adaptation inputs</a:t>
                      </a:r>
                    </a:p>
                  </a:txBody>
                  <a:tcPr marL="161925" marR="133350" marT="95250" marB="95250" anchor="ctr">
                    <a:solidFill>
                      <a:srgbClr val="102D3A"/>
                    </a:solidFill>
                  </a:tcPr>
                </a:tc>
                <a:tc>
                  <a:txBody>
                    <a:bodyPr/>
                    <a:lstStyle/>
                    <a:p>
                      <a:r>
                        <a:rPr sz="1950" b="1">
                          <a:solidFill>
                            <a:srgbClr val="FFFFFF"/>
                          </a:solidFill>
                          <a:latin typeface="Nimbus Sans"/>
                          <a:ea typeface="Nimbus Sans"/>
                          <a:cs typeface="Nimbus Sans"/>
                        </a:rPr>
                        <a:t>Role in this study</a:t>
                      </a:r>
                    </a:p>
                  </a:txBody>
                  <a:tcPr marL="161925" marR="133350" marT="95250" marB="95250" anchor="ctr">
                    <a:solidFill>
                      <a:srgbClr val="102D3A"/>
                    </a:solidFill>
                  </a:tcPr>
                </a:tc>
              </a:tr>
              <a:tr h="738188">
                <a:tc>
                  <a:txBody>
                    <a:bodyPr/>
                    <a:lstStyle/>
                    <a:p>
                      <a:r>
                        <a:rPr sz="1950" b="0">
                          <a:solidFill>
                            <a:srgbClr val="183542"/>
                          </a:solidFill>
                          <a:latin typeface="Nimbus Sans"/>
                          <a:ea typeface="Nimbus Sans"/>
                          <a:cs typeface="Nimbus Sans"/>
                        </a:rPr>
                        <a:t>ECG UDA [1]</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Source data +</a:t>
                      </a:r>
                    </a:p>
                    <a:p>
                      <a:r>
                        <a:rPr sz="1950" b="0">
                          <a:solidFill>
                            <a:srgbClr val="183542"/>
                          </a:solidFill>
                          <a:latin typeface="Nimbus Sans"/>
                          <a:ea typeface="Nimbus Sans"/>
                          <a:cs typeface="Nimbus Sans"/>
                        </a:rPr>
                        <a:t>unlabeled target</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ECG foundation</a:t>
                      </a:r>
                    </a:p>
                  </a:txBody>
                  <a:tcPr marL="161925" marR="133350" marT="95250" marB="95250" anchor="ctr">
                    <a:solidFill>
                      <a:srgbClr val="FFFFFF"/>
                    </a:solidFill>
                  </a:tcPr>
                </a:tc>
              </a:tr>
              <a:tr h="738188">
                <a:tc>
                  <a:txBody>
                    <a:bodyPr/>
                    <a:lstStyle/>
                    <a:p>
                      <a:r>
                        <a:rPr sz="1950" b="0">
                          <a:solidFill>
                            <a:srgbClr val="183542"/>
                          </a:solidFill>
                          <a:latin typeface="Nimbus Sans"/>
                          <a:ea typeface="Nimbus Sans"/>
                          <a:cs typeface="Nimbus Sans"/>
                        </a:rPr>
                        <a:t>EEG SFDA [2]</a:t>
                      </a:r>
                    </a:p>
                  </a:txBody>
                  <a:tcPr marL="161925" marR="133350" marT="95250" marB="95250" anchor="ctr">
                    <a:solidFill>
                      <a:srgbClr val="ECF2F3"/>
                    </a:solidFill>
                  </a:tcPr>
                </a:tc>
                <a:tc>
                  <a:txBody>
                    <a:bodyPr/>
                    <a:lstStyle/>
                    <a:p>
                      <a:r>
                        <a:rPr sz="1950" b="0">
                          <a:solidFill>
                            <a:srgbClr val="183542"/>
                          </a:solidFill>
                          <a:latin typeface="Nimbus Sans"/>
                          <a:ea typeface="Nimbus Sans"/>
                          <a:cs typeface="Nimbus Sans"/>
                        </a:rPr>
                        <a:t>Source checkpoint +</a:t>
                      </a:r>
                    </a:p>
                    <a:p>
                      <a:r>
                        <a:rPr sz="1950" b="0">
                          <a:solidFill>
                            <a:srgbClr val="183542"/>
                          </a:solidFill>
                          <a:latin typeface="Nimbus Sans"/>
                          <a:ea typeface="Nimbus Sans"/>
                          <a:cs typeface="Nimbus Sans"/>
                        </a:rPr>
                        <a:t>unlabeled target</a:t>
                      </a:r>
                    </a:p>
                  </a:txBody>
                  <a:tcPr marL="161925" marR="133350" marT="95250" marB="95250" anchor="ctr">
                    <a:solidFill>
                      <a:srgbClr val="ECF2F3"/>
                    </a:solidFill>
                  </a:tcPr>
                </a:tc>
                <a:tc>
                  <a:txBody>
                    <a:bodyPr/>
                    <a:lstStyle/>
                    <a:p>
                      <a:r>
                        <a:rPr sz="1950" b="0">
                          <a:solidFill>
                            <a:srgbClr val="183542"/>
                          </a:solidFill>
                          <a:latin typeface="Nimbus Sans"/>
                          <a:ea typeface="Nimbus Sans"/>
                          <a:cs typeface="Nimbus Sans"/>
                        </a:rPr>
                        <a:t>Target-only mechanism</a:t>
                      </a:r>
                    </a:p>
                  </a:txBody>
                  <a:tcPr marL="161925" marR="133350" marT="95250" marB="95250" anchor="ctr">
                    <a:solidFill>
                      <a:srgbClr val="ECF2F3"/>
                    </a:solidFill>
                  </a:tcPr>
                </a:tc>
              </a:tr>
              <a:tr h="738188">
                <a:tc>
                  <a:txBody>
                    <a:bodyPr/>
                    <a:lstStyle/>
                    <a:p>
                      <a:r>
                        <a:rPr sz="1950" b="0">
                          <a:solidFill>
                            <a:srgbClr val="183542"/>
                          </a:solidFill>
                          <a:latin typeface="Nimbus Sans"/>
                          <a:ea typeface="Nimbus Sans"/>
                          <a:cs typeface="Nimbus Sans"/>
                        </a:rPr>
                        <a:t>Proposed ECG SFDA</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Source checkpoint +</a:t>
                      </a:r>
                    </a:p>
                    <a:p>
                      <a:r>
                        <a:rPr sz="1950" b="0">
                          <a:solidFill>
                            <a:srgbClr val="183542"/>
                          </a:solidFill>
                          <a:latin typeface="Nimbus Sans"/>
                          <a:ea typeface="Nimbus Sans"/>
                          <a:cs typeface="Nimbus Sans"/>
                        </a:rPr>
                        <a:t>multiple targets</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One shared model</a:t>
                      </a:r>
                    </a:p>
                  </a:txBody>
                  <a:tcPr marL="161925" marR="133350" marT="95250" marB="95250" anchor="ctr">
                    <a:solidFill>
                      <a:srgbClr val="FFFFFF"/>
                    </a:solidFill>
                  </a:tcPr>
                </a:tc>
              </a:tr>
            </a:tbl>
          </a:graphicData>
        </a:graphic>
      </p:graphicFrame>
      <p:sp>
        <p:nvSpPr>
          <p:cNvPr id="5" name="objective">
            <a:extLst>
              <a:ext uri="{FF2B5EF4-FFF2-40B4-BE49-F238E27FC236}">
                <a16:creationId xmlns:a16="http://schemas.microsoft.com/office/drawing/2014/main" xmlns="" id="{2BABEE4A-26B5-4607-A8E0-164F453C1E97}"/>
              </a:ext>
            </a:extLst>
          </p:cNvPr>
          <p:cNvSpPr>
            <a:spLocks noGrp="1"/>
          </p:cNvSpPr>
          <p:nvPr/>
        </p:nvSpPr>
        <p:spPr>
          <a:xfrm>
            <a:off x="723900" y="5762625"/>
            <a:ext cx="10668000" cy="561975"/>
          </a:xfrm>
          <a:prstGeom prst="rect">
            <a:avLst/>
          </a:prstGeom>
          <a:noFill/>
          <a:ln w="0">
            <a:noFill/>
          </a:ln>
        </p:spPr>
        <p:txBody>
          <a:bodyPr lIns="0" tIns="0" rIns="0" bIns="0" anchor="t">
            <a:noAutofit/>
          </a:bodyPr>
          <a:lstStyle>
            <a:defPPr algn="l">
              <a:defRPr sz="2175" b="0">
                <a:solidFill>
                  <a:srgbClr val="183542"/>
                </a:solidFill>
                <a:latin typeface="Nimbus Sans"/>
                <a:ea typeface="Nimbus Sans"/>
                <a:cs typeface="Nimbus Sans"/>
              </a:defRPr>
            </a:defPPr>
          </a:lstStyle>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Goal: reduce domain shift while preserving minority-class detection.</a:t>
            </a:r>
          </a:p>
        </p:txBody>
      </p:sp>
    </p:spTree>
    <p:extLst>
      <p:ext uri="{BB962C8B-B14F-4D97-AF65-F5344CB8AC3E}">
        <p14:creationId xmlns:p14="http://schemas.microsoft.com/office/powerpoint/2010/main" val="144169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8"/>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xmlns="" id="{0C2A870C-B85C-4D2B-98C5-129B557CE6C5}"/>
              </a:ext>
            </a:extLst>
          </p:cNvPr>
          <p:cNvSpPr>
            <a:spLocks noGrp="1"/>
          </p:cNvSpPr>
          <p:nvPr/>
        </p:nvSpPr>
        <p:spPr>
          <a:xfrm>
            <a:off x="723900" y="523875"/>
            <a:ext cx="10744200" cy="704850"/>
          </a:xfrm>
          <a:prstGeom prst="rect">
            <a:avLst/>
          </a:prstGeom>
          <a:noFill/>
          <a:ln w="0">
            <a:noFill/>
          </a:ln>
        </p:spPr>
        <p:txBody>
          <a:bodyPr lIns="0" tIns="0" rIns="0" bIns="0" anchor="t">
            <a:noAutofit/>
          </a:bodyPr>
          <a:lstStyle>
            <a:defPPr algn="l">
              <a:defRPr sz="3600" b="1">
                <a:solidFill>
                  <a:srgbClr val="102D3A"/>
                </a:solidFill>
                <a:latin typeface="Nimbus Sans"/>
                <a:ea typeface="Nimbus Sans"/>
                <a:cs typeface="Nimbus Sans"/>
              </a:defRPr>
            </a:defPPr>
          </a:lstStyle>
          <a:p>
            <a:pPr algn="l">
              <a:defRPr sz="3600" b="1">
                <a:solidFill>
                  <a:srgbClr val="102D3A"/>
                </a:solidFill>
                <a:latin typeface="Nimbus Sans"/>
                <a:ea typeface="Nimbus Sans"/>
                <a:cs typeface="Nimbus Sans"/>
              </a:defRPr>
            </a:pPr>
            <a:r>
              <a:rPr sz="3600" b="1">
                <a:solidFill>
                  <a:srgbClr val="102D3A"/>
                </a:solidFill>
                <a:latin typeface="Nimbus Sans"/>
                <a:ea typeface="Nimbus Sans"/>
                <a:cs typeface="Nimbus Sans"/>
              </a:rPr>
              <a:t>Multi-target ECG setting</a:t>
            </a:r>
          </a:p>
        </p:txBody>
      </p:sp>
      <p:sp>
        <p:nvSpPr>
          <p:cNvPr id="2" name="page-number">
            <a:extLst>
              <a:ext uri="{FF2B5EF4-FFF2-40B4-BE49-F238E27FC236}">
                <a16:creationId xmlns:a16="http://schemas.microsoft.com/office/drawing/2014/main" xmlns="" id="{6AA42AE7-7C6F-4743-B078-CBAEC5EE5E09}"/>
              </a:ext>
            </a:extLst>
          </p:cNvPr>
          <p:cNvSpPr>
            <a:spLocks noGrp="1"/>
          </p:cNvSpPr>
          <p:nvPr/>
        </p:nvSpPr>
        <p:spPr>
          <a:xfrm>
            <a:off x="11049000" y="6381750"/>
            <a:ext cx="457200" cy="257175"/>
          </a:xfrm>
          <a:prstGeom prst="rect">
            <a:avLst/>
          </a:prstGeom>
          <a:noFill/>
          <a:ln w="0">
            <a:noFill/>
          </a:ln>
        </p:spPr>
        <p:txBody>
          <a:bodyPr lIns="0" tIns="0" rIns="0" bIns="0" anchor="t">
            <a:noAutofit/>
          </a:bodyPr>
          <a:lstStyle>
            <a:defPPr algn="l">
              <a:defRPr sz="1350" b="0">
                <a:solidFill>
                  <a:srgbClr val="496371"/>
                </a:solidFill>
                <a:latin typeface="Nimbus Sans"/>
                <a:ea typeface="Nimbus Sans"/>
                <a:cs typeface="Nimbus Sans"/>
              </a:defRPr>
            </a:defPPr>
          </a:lstStyle>
          <a:p>
            <a:pPr algn="l">
              <a:defRPr sz="1350" b="0">
                <a:solidFill>
                  <a:srgbClr val="496371"/>
                </a:solidFill>
                <a:latin typeface="Nimbus Sans"/>
                <a:ea typeface="Nimbus Sans"/>
                <a:cs typeface="Nimbus Sans"/>
              </a:defRPr>
            </a:pPr>
            <a:r>
              <a:rPr sz="1350" b="0">
                <a:solidFill>
                  <a:srgbClr val="496371"/>
                </a:solidFill>
                <a:latin typeface="Nimbus Sans"/>
                <a:ea typeface="Nimbus Sans"/>
                <a:cs typeface="Nimbus Sans"/>
              </a:rPr>
              <a:t>03</a:t>
            </a:r>
          </a:p>
        </p:txBody>
      </p:sp>
      <p:sp>
        <p:nvSpPr>
          <p:cNvPr id="3" name="source">
            <a:extLst>
              <a:ext uri="{FF2B5EF4-FFF2-40B4-BE49-F238E27FC236}">
                <a16:creationId xmlns:a16="http://schemas.microsoft.com/office/drawing/2014/main" xmlns="" id="{84D786F4-4CBA-4667-A545-87571F0B7D5C}"/>
              </a:ext>
            </a:extLst>
          </p:cNvPr>
          <p:cNvSpPr>
            <a:spLocks noGrp="1"/>
          </p:cNvSpPr>
          <p:nvPr/>
        </p:nvSpPr>
        <p:spPr>
          <a:xfrm>
            <a:off x="723900" y="1419225"/>
            <a:ext cx="10744200" cy="476250"/>
          </a:xfrm>
          <a:prstGeom prst="rect">
            <a:avLst/>
          </a:prstGeom>
          <a:noFill/>
          <a:ln w="0">
            <a:noFill/>
          </a:ln>
        </p:spPr>
        <p:txBody>
          <a:bodyPr lIns="0" tIns="0" rIns="0" bIns="0" anchor="t">
            <a:noAutofit/>
          </a:bodyPr>
          <a:lstStyle>
            <a:defPPr algn="l">
              <a:defRPr sz="2175" b="0">
                <a:solidFill>
                  <a:srgbClr val="183542"/>
                </a:solidFill>
                <a:latin typeface="Nimbus Sans"/>
                <a:ea typeface="Nimbus Sans"/>
                <a:cs typeface="Nimbus Sans"/>
              </a:defRPr>
            </a:defPPr>
          </a:lstStyle>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Labeled source: MIT-BIH Arrhythmia Database (MITDB), MLII [1]</a:t>
            </a:r>
          </a:p>
        </p:txBody>
      </p:sp>
      <p:graphicFrame>
        <p:nvGraphicFramePr>
          <p:cNvPr id="4" name="Table 3">
            <a:extLst>
              <a:ext uri="{FF2B5EF4-FFF2-40B4-BE49-F238E27FC236}">
                <a16:creationId xmlns:a16="http://schemas.microsoft.com/office/drawing/2014/main" xmlns="" id="{4B2AA33C-FDD2-4A55-9874-768935D9EBA6}"/>
              </a:ext>
            </a:extLst>
          </p:cNvPr>
          <p:cNvGraphicFramePr/>
          <p:nvPr/>
        </p:nvGraphicFramePr>
        <p:xfrm>
          <a:off x="723900" y="2171700"/>
          <a:ext cx="10744200" cy="2438400"/>
        </p:xfrm>
        <a:graphic>
          <a:graphicData uri="http://schemas.openxmlformats.org/drawingml/2006/table">
            <a:tbl>
              <a:tblPr firstRow="1"/>
              <a:tblGrid>
                <a:gridCol w="1181100"/>
                <a:gridCol w="3581400"/>
                <a:gridCol w="1295400"/>
                <a:gridCol w="4686300"/>
              </a:tblGrid>
              <a:tr h="609600">
                <a:tc>
                  <a:txBody>
                    <a:bodyPr/>
                    <a:lstStyle/>
                    <a:p>
                      <a:r>
                        <a:rPr sz="1950" b="1">
                          <a:solidFill>
                            <a:srgbClr val="FFFFFF"/>
                          </a:solidFill>
                          <a:latin typeface="Nimbus Sans"/>
                          <a:ea typeface="Nimbus Sans"/>
                          <a:cs typeface="Nimbus Sans"/>
                        </a:rPr>
                        <a:t>Target</a:t>
                      </a:r>
                    </a:p>
                  </a:txBody>
                  <a:tcPr marL="161925" marR="133350" marT="95250" marB="95250" anchor="ctr">
                    <a:solidFill>
                      <a:srgbClr val="102D3A"/>
                    </a:solidFill>
                  </a:tcPr>
                </a:tc>
                <a:tc>
                  <a:txBody>
                    <a:bodyPr/>
                    <a:lstStyle/>
                    <a:p>
                      <a:r>
                        <a:rPr sz="1950" b="1">
                          <a:solidFill>
                            <a:srgbClr val="FFFFFF"/>
                          </a:solidFill>
                          <a:latin typeface="Nimbus Sans"/>
                          <a:ea typeface="Nimbus Sans"/>
                          <a:cs typeface="Nimbus Sans"/>
                        </a:rPr>
                        <a:t>Database</a:t>
                      </a:r>
                    </a:p>
                  </a:txBody>
                  <a:tcPr marL="161925" marR="133350" marT="95250" marB="95250" anchor="ctr">
                    <a:solidFill>
                      <a:srgbClr val="102D3A"/>
                    </a:solidFill>
                  </a:tcPr>
                </a:tc>
                <a:tc>
                  <a:txBody>
                    <a:bodyPr/>
                    <a:lstStyle/>
                    <a:p>
                      <a:r>
                        <a:rPr sz="1950" b="1">
                          <a:solidFill>
                            <a:srgbClr val="FFFFFF"/>
                          </a:solidFill>
                          <a:latin typeface="Nimbus Sans"/>
                          <a:ea typeface="Nimbus Sans"/>
                          <a:cs typeface="Nimbus Sans"/>
                        </a:rPr>
                        <a:t>Lead</a:t>
                      </a:r>
                    </a:p>
                  </a:txBody>
                  <a:tcPr marL="161925" marR="133350" marT="95250" marB="95250" anchor="ctr">
                    <a:solidFill>
                      <a:srgbClr val="102D3A"/>
                    </a:solidFill>
                  </a:tcPr>
                </a:tc>
                <a:tc>
                  <a:txBody>
                    <a:bodyPr/>
                    <a:lstStyle/>
                    <a:p>
                      <a:r>
                        <a:rPr sz="1950" b="1">
                          <a:solidFill>
                            <a:srgbClr val="FFFFFF"/>
                          </a:solidFill>
                          <a:latin typeface="Nimbus Sans"/>
                          <a:ea typeface="Nimbus Sans"/>
                          <a:cs typeface="Nimbus Sans"/>
                        </a:rPr>
                        <a:t>Shift from source</a:t>
                      </a:r>
                    </a:p>
                  </a:txBody>
                  <a:tcPr marL="161925" marR="133350" marT="95250" marB="95250" anchor="ctr">
                    <a:solidFill>
                      <a:srgbClr val="102D3A"/>
                    </a:solidFill>
                  </a:tcPr>
                </a:tc>
              </a:tr>
              <a:tr h="609600">
                <a:tc>
                  <a:txBody>
                    <a:bodyPr/>
                    <a:lstStyle/>
                    <a:p>
                      <a:r>
                        <a:rPr sz="1950" b="0">
                          <a:solidFill>
                            <a:srgbClr val="183542"/>
                          </a:solidFill>
                          <a:latin typeface="Nimbus Sans"/>
                          <a:ea typeface="Nimbus Sans"/>
                          <a:cs typeface="Nimbus Sans"/>
                        </a:rPr>
                        <a:t>T1</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INCART</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II</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Database</a:t>
                      </a:r>
                    </a:p>
                  </a:txBody>
                  <a:tcPr marL="161925" marR="133350" marT="95250" marB="95250" anchor="ctr">
                    <a:solidFill>
                      <a:srgbClr val="FFFFFF"/>
                    </a:solidFill>
                  </a:tcPr>
                </a:tc>
              </a:tr>
              <a:tr h="609600">
                <a:tc>
                  <a:txBody>
                    <a:bodyPr/>
                    <a:lstStyle/>
                    <a:p>
                      <a:r>
                        <a:rPr sz="1950" b="0">
                          <a:solidFill>
                            <a:srgbClr val="183542"/>
                          </a:solidFill>
                          <a:latin typeface="Nimbus Sans"/>
                          <a:ea typeface="Nimbus Sans"/>
                          <a:cs typeface="Nimbus Sans"/>
                        </a:rPr>
                        <a:t>T2</a:t>
                      </a:r>
                    </a:p>
                  </a:txBody>
                  <a:tcPr marL="161925" marR="133350" marT="95250" marB="95250" anchor="ctr">
                    <a:solidFill>
                      <a:srgbClr val="ECF2F3"/>
                    </a:solidFill>
                  </a:tcPr>
                </a:tc>
                <a:tc>
                  <a:txBody>
                    <a:bodyPr/>
                    <a:lstStyle/>
                    <a:p>
                      <a:r>
                        <a:rPr sz="1950" b="0">
                          <a:solidFill>
                            <a:srgbClr val="183542"/>
                          </a:solidFill>
                          <a:latin typeface="Nimbus Sans"/>
                          <a:ea typeface="Nimbus Sans"/>
                          <a:cs typeface="Nimbus Sans"/>
                        </a:rPr>
                        <a:t>INCART</a:t>
                      </a:r>
                    </a:p>
                  </a:txBody>
                  <a:tcPr marL="161925" marR="133350" marT="95250" marB="95250" anchor="ctr">
                    <a:solidFill>
                      <a:srgbClr val="ECF2F3"/>
                    </a:solidFill>
                  </a:tcPr>
                </a:tc>
                <a:tc>
                  <a:txBody>
                    <a:bodyPr/>
                    <a:lstStyle/>
                    <a:p>
                      <a:r>
                        <a:rPr sz="1950" b="0">
                          <a:solidFill>
                            <a:srgbClr val="183542"/>
                          </a:solidFill>
                          <a:latin typeface="Nimbus Sans"/>
                          <a:ea typeface="Nimbus Sans"/>
                          <a:cs typeface="Nimbus Sans"/>
                        </a:rPr>
                        <a:t>V5</a:t>
                      </a:r>
                    </a:p>
                  </a:txBody>
                  <a:tcPr marL="161925" marR="133350" marT="95250" marB="95250" anchor="ctr">
                    <a:solidFill>
                      <a:srgbClr val="ECF2F3"/>
                    </a:solidFill>
                  </a:tcPr>
                </a:tc>
                <a:tc>
                  <a:txBody>
                    <a:bodyPr/>
                    <a:lstStyle/>
                    <a:p>
                      <a:r>
                        <a:rPr sz="1950" b="0">
                          <a:solidFill>
                            <a:srgbClr val="183542"/>
                          </a:solidFill>
                          <a:latin typeface="Nimbus Sans"/>
                          <a:ea typeface="Nimbus Sans"/>
                          <a:cs typeface="Nimbus Sans"/>
                        </a:rPr>
                        <a:t>Database and lead</a:t>
                      </a:r>
                    </a:p>
                  </a:txBody>
                  <a:tcPr marL="161925" marR="133350" marT="95250" marB="95250" anchor="ctr">
                    <a:solidFill>
                      <a:srgbClr val="ECF2F3"/>
                    </a:solidFill>
                  </a:tcPr>
                </a:tc>
              </a:tr>
              <a:tr h="609600">
                <a:tc>
                  <a:txBody>
                    <a:bodyPr/>
                    <a:lstStyle/>
                    <a:p>
                      <a:r>
                        <a:rPr sz="1950" b="0">
                          <a:solidFill>
                            <a:srgbClr val="183542"/>
                          </a:solidFill>
                          <a:latin typeface="Nimbus Sans"/>
                          <a:ea typeface="Nimbus Sans"/>
                          <a:cs typeface="Nimbus Sans"/>
                        </a:rPr>
                        <a:t>T3</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European ST-T (ESTDB)</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V5</a:t>
                      </a:r>
                    </a:p>
                  </a:txBody>
                  <a:tcPr marL="161925" marR="133350" marT="95250" marB="95250" anchor="ctr">
                    <a:solidFill>
                      <a:srgbClr val="FFFFFF"/>
                    </a:solidFill>
                  </a:tcPr>
                </a:tc>
                <a:tc>
                  <a:txBody>
                    <a:bodyPr/>
                    <a:lstStyle/>
                    <a:p>
                      <a:r>
                        <a:rPr sz="1950" b="0">
                          <a:solidFill>
                            <a:srgbClr val="183542"/>
                          </a:solidFill>
                          <a:latin typeface="Nimbus Sans"/>
                          <a:ea typeface="Nimbus Sans"/>
                          <a:cs typeface="Nimbus Sans"/>
                        </a:rPr>
                        <a:t>Database and lead</a:t>
                      </a:r>
                    </a:p>
                  </a:txBody>
                  <a:tcPr marL="161925" marR="133350" marT="95250" marB="95250" anchor="ctr">
                    <a:solidFill>
                      <a:srgbClr val="FFFFFF"/>
                    </a:solidFill>
                  </a:tcPr>
                </a:tc>
              </a:tr>
            </a:tbl>
          </a:graphicData>
        </a:graphic>
      </p:graphicFrame>
      <p:sp>
        <p:nvSpPr>
          <p:cNvPr id="5" name="shared-model">
            <a:extLst>
              <a:ext uri="{FF2B5EF4-FFF2-40B4-BE49-F238E27FC236}">
                <a16:creationId xmlns:a16="http://schemas.microsoft.com/office/drawing/2014/main" xmlns="" id="{A5008880-F278-461C-9618-FCC5F38619D8}"/>
              </a:ext>
            </a:extLst>
          </p:cNvPr>
          <p:cNvSpPr>
            <a:spLocks noGrp="1"/>
          </p:cNvSpPr>
          <p:nvPr/>
        </p:nvSpPr>
        <p:spPr>
          <a:xfrm>
            <a:off x="723900" y="5010150"/>
            <a:ext cx="10744200" cy="514350"/>
          </a:xfrm>
          <a:prstGeom prst="rect">
            <a:avLst/>
          </a:prstGeom>
          <a:noFill/>
          <a:ln w="0">
            <a:noFill/>
          </a:ln>
        </p:spPr>
        <p:txBody>
          <a:bodyPr lIns="0" tIns="0" rIns="0" bIns="0" anchor="t">
            <a:noAutofit/>
          </a:bodyPr>
          <a:lstStyle>
            <a:defPPr algn="l">
              <a:defRPr sz="2550" b="1">
                <a:solidFill>
                  <a:srgbClr val="057C80"/>
                </a:solidFill>
                <a:latin typeface="Nimbus Sans"/>
                <a:ea typeface="Nimbus Sans"/>
                <a:cs typeface="Nimbus Sans"/>
              </a:defRPr>
            </a:defPPr>
          </a:lstStyle>
          <a:p>
            <a:pPr algn="l">
              <a:defRPr sz="2550" b="1">
                <a:solidFill>
                  <a:srgbClr val="057C80"/>
                </a:solidFill>
                <a:latin typeface="Nimbus Sans"/>
                <a:ea typeface="Nimbus Sans"/>
                <a:cs typeface="Nimbus Sans"/>
              </a:defRPr>
            </a:pPr>
            <a:r>
              <a:rPr sz="2550" b="1">
                <a:solidFill>
                  <a:srgbClr val="057C80"/>
                </a:solidFill>
                <a:latin typeface="Nimbus Sans"/>
                <a:ea typeface="Nimbus Sans"/>
                <a:cs typeface="Nimbus Sans"/>
              </a:rPr>
              <a:t>One shared adapted model serves T1, T2, and T3.</a:t>
            </a:r>
          </a:p>
        </p:txBody>
      </p:sp>
      <p:sp>
        <p:nvSpPr>
          <p:cNvPr id="6" name="constraints">
            <a:extLst>
              <a:ext uri="{FF2B5EF4-FFF2-40B4-BE49-F238E27FC236}">
                <a16:creationId xmlns:a16="http://schemas.microsoft.com/office/drawing/2014/main" xmlns="" id="{E70A2020-B558-424E-BD12-2B6079C7296D}"/>
              </a:ext>
            </a:extLst>
          </p:cNvPr>
          <p:cNvSpPr>
            <a:spLocks noGrp="1"/>
          </p:cNvSpPr>
          <p:nvPr/>
        </p:nvSpPr>
        <p:spPr>
          <a:xfrm>
            <a:off x="723900" y="5648325"/>
            <a:ext cx="10572750" cy="666750"/>
          </a:xfrm>
          <a:prstGeom prst="rect">
            <a:avLst/>
          </a:prstGeom>
          <a:noFill/>
          <a:ln w="0">
            <a:noFill/>
          </a:ln>
        </p:spPr>
        <p:txBody>
          <a:bodyPr lIns="0" tIns="0" rIns="0" bIns="0" anchor="t">
            <a:noAutofit/>
          </a:bodyPr>
          <a:lstStyle>
            <a:defPPr algn="l">
              <a:defRPr sz="2025" b="0">
                <a:solidFill>
                  <a:srgbClr val="183542"/>
                </a:solidFill>
                <a:latin typeface="Nimbus Sans"/>
                <a:ea typeface="Nimbus Sans"/>
                <a:cs typeface="Nimbus Sans"/>
              </a:defRPr>
            </a:defPPr>
          </a:lstStyle>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Adaptation uses the checkpoint and unlabeled targets only.</a:t>
            </a:r>
          </a:p>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Closed-set heartbeat classes: N, V, S, F.</a:t>
            </a:r>
          </a:p>
        </p:txBody>
      </p:sp>
    </p:spTree>
    <p:extLst>
      <p:ext uri="{BB962C8B-B14F-4D97-AF65-F5344CB8AC3E}">
        <p14:creationId xmlns:p14="http://schemas.microsoft.com/office/powerpoint/2010/main" val="1601597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8"/>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xmlns="" id="{E9EA94E8-E5F2-4A8A-AB37-D766F66C49D3}"/>
              </a:ext>
            </a:extLst>
          </p:cNvPr>
          <p:cNvSpPr>
            <a:spLocks noGrp="1"/>
          </p:cNvSpPr>
          <p:nvPr/>
        </p:nvSpPr>
        <p:spPr>
          <a:xfrm>
            <a:off x="723900" y="523875"/>
            <a:ext cx="10744200" cy="704850"/>
          </a:xfrm>
          <a:prstGeom prst="rect">
            <a:avLst/>
          </a:prstGeom>
          <a:noFill/>
          <a:ln w="0">
            <a:noFill/>
          </a:ln>
        </p:spPr>
        <p:txBody>
          <a:bodyPr lIns="0" tIns="0" rIns="0" bIns="0" anchor="t">
            <a:noAutofit/>
          </a:bodyPr>
          <a:lstStyle>
            <a:defPPr algn="l">
              <a:defRPr sz="3600" b="1">
                <a:solidFill>
                  <a:srgbClr val="102D3A"/>
                </a:solidFill>
                <a:latin typeface="Nimbus Sans"/>
                <a:ea typeface="Nimbus Sans"/>
                <a:cs typeface="Nimbus Sans"/>
              </a:defRPr>
            </a:defPPr>
          </a:lstStyle>
          <a:p>
            <a:pPr algn="l">
              <a:defRPr sz="3600" b="1">
                <a:solidFill>
                  <a:srgbClr val="102D3A"/>
                </a:solidFill>
                <a:latin typeface="Nimbus Sans"/>
                <a:ea typeface="Nimbus Sans"/>
                <a:cs typeface="Nimbus Sans"/>
              </a:defRPr>
            </a:pPr>
            <a:r>
              <a:rPr sz="3600" b="1">
                <a:solidFill>
                  <a:srgbClr val="102D3A"/>
                </a:solidFill>
                <a:latin typeface="Nimbus Sans"/>
                <a:ea typeface="Nimbus Sans"/>
                <a:cs typeface="Nimbus Sans"/>
              </a:rPr>
              <a:t>Proposed adaptation method</a:t>
            </a:r>
          </a:p>
        </p:txBody>
      </p:sp>
      <p:sp>
        <p:nvSpPr>
          <p:cNvPr id="2" name="page-number">
            <a:extLst>
              <a:ext uri="{FF2B5EF4-FFF2-40B4-BE49-F238E27FC236}">
                <a16:creationId xmlns:a16="http://schemas.microsoft.com/office/drawing/2014/main" xmlns="" id="{367A6A6F-FD83-4916-A425-8D6543B894B7}"/>
              </a:ext>
            </a:extLst>
          </p:cNvPr>
          <p:cNvSpPr>
            <a:spLocks noGrp="1"/>
          </p:cNvSpPr>
          <p:nvPr/>
        </p:nvSpPr>
        <p:spPr>
          <a:xfrm>
            <a:off x="11049000" y="6381750"/>
            <a:ext cx="457200" cy="257175"/>
          </a:xfrm>
          <a:prstGeom prst="rect">
            <a:avLst/>
          </a:prstGeom>
          <a:noFill/>
          <a:ln w="0">
            <a:noFill/>
          </a:ln>
        </p:spPr>
        <p:txBody>
          <a:bodyPr lIns="0" tIns="0" rIns="0" bIns="0" anchor="t">
            <a:noAutofit/>
          </a:bodyPr>
          <a:lstStyle>
            <a:defPPr algn="l">
              <a:defRPr sz="1350" b="0">
                <a:solidFill>
                  <a:srgbClr val="496371"/>
                </a:solidFill>
                <a:latin typeface="Nimbus Sans"/>
                <a:ea typeface="Nimbus Sans"/>
                <a:cs typeface="Nimbus Sans"/>
              </a:defRPr>
            </a:defPPr>
          </a:lstStyle>
          <a:p>
            <a:pPr algn="l">
              <a:defRPr sz="1350" b="0">
                <a:solidFill>
                  <a:srgbClr val="496371"/>
                </a:solidFill>
                <a:latin typeface="Nimbus Sans"/>
                <a:ea typeface="Nimbus Sans"/>
                <a:cs typeface="Nimbus Sans"/>
              </a:defRPr>
            </a:pPr>
            <a:r>
              <a:rPr sz="1350" b="0">
                <a:solidFill>
                  <a:srgbClr val="496371"/>
                </a:solidFill>
                <a:latin typeface="Nimbus Sans"/>
                <a:ea typeface="Nimbus Sans"/>
                <a:cs typeface="Nimbus Sans"/>
              </a:rPr>
              <a:t>04</a:t>
            </a:r>
          </a:p>
        </p:txBody>
      </p:sp>
      <p:sp>
        <p:nvSpPr>
          <p:cNvPr id="3" name="step-1">
            <a:extLst>
              <a:ext uri="{FF2B5EF4-FFF2-40B4-BE49-F238E27FC236}">
                <a16:creationId xmlns:a16="http://schemas.microsoft.com/office/drawing/2014/main" xmlns="" id="{34F3CC0C-BD88-4CD0-BCA8-358A16D8D50E}"/>
              </a:ext>
            </a:extLst>
          </p:cNvPr>
          <p:cNvSpPr>
            <a:spLocks noGrp="1"/>
          </p:cNvSpPr>
          <p:nvPr/>
        </p:nvSpPr>
        <p:spPr>
          <a:xfrm>
            <a:off x="742950" y="1447800"/>
            <a:ext cx="666750" cy="485775"/>
          </a:xfrm>
          <a:prstGeom prst="rect">
            <a:avLst/>
          </a:prstGeom>
          <a:noFill/>
          <a:ln w="0">
            <a:noFill/>
          </a:ln>
        </p:spPr>
        <p:txBody>
          <a:bodyPr lIns="0" tIns="0" rIns="0" bIns="0" anchor="t">
            <a:noAutofit/>
          </a:bodyPr>
          <a:lstStyle>
            <a:defPPr algn="l">
              <a:defRPr sz="3000" b="1">
                <a:solidFill>
                  <a:srgbClr val="057C80"/>
                </a:solidFill>
                <a:latin typeface="Nimbus Sans"/>
                <a:ea typeface="Nimbus Sans"/>
                <a:cs typeface="Nimbus Sans"/>
              </a:defRPr>
            </a:defPPr>
          </a:lstStyle>
          <a:p>
            <a:pPr algn="l">
              <a:defRPr sz="3000" b="1">
                <a:solidFill>
                  <a:srgbClr val="057C80"/>
                </a:solidFill>
                <a:latin typeface="Nimbus Sans"/>
                <a:ea typeface="Nimbus Sans"/>
                <a:cs typeface="Nimbus Sans"/>
              </a:defRPr>
            </a:pPr>
            <a:r>
              <a:rPr sz="3000" b="1">
                <a:solidFill>
                  <a:srgbClr val="057C80"/>
                </a:solidFill>
                <a:latin typeface="Nimbus Sans"/>
                <a:ea typeface="Nimbus Sans"/>
                <a:cs typeface="Nimbus Sans"/>
              </a:rPr>
              <a:t>01</a:t>
            </a:r>
          </a:p>
        </p:txBody>
      </p:sp>
      <p:sp>
        <p:nvSpPr>
          <p:cNvPr id="4" name="step-heading-1">
            <a:extLst>
              <a:ext uri="{FF2B5EF4-FFF2-40B4-BE49-F238E27FC236}">
                <a16:creationId xmlns:a16="http://schemas.microsoft.com/office/drawing/2014/main" xmlns="" id="{5449595F-D1A9-42F2-B529-0228653B51BF}"/>
              </a:ext>
            </a:extLst>
          </p:cNvPr>
          <p:cNvSpPr>
            <a:spLocks noGrp="1"/>
          </p:cNvSpPr>
          <p:nvPr/>
        </p:nvSpPr>
        <p:spPr>
          <a:xfrm>
            <a:off x="1581150" y="1447800"/>
            <a:ext cx="9667875" cy="428625"/>
          </a:xfrm>
          <a:prstGeom prst="rect">
            <a:avLst/>
          </a:prstGeom>
          <a:noFill/>
          <a:ln w="0">
            <a:noFill/>
          </a:ln>
        </p:spPr>
        <p:txBody>
          <a:bodyPr lIns="0" tIns="0" rIns="0" bIns="0" anchor="t">
            <a:noAutofit/>
          </a:bodyPr>
          <a:lstStyle>
            <a:defPPr algn="l">
              <a:defRPr sz="2325" b="1">
                <a:solidFill>
                  <a:srgbClr val="102D3A"/>
                </a:solidFill>
                <a:latin typeface="Nimbus Sans"/>
                <a:ea typeface="Nimbus Sans"/>
                <a:cs typeface="Nimbus Sans"/>
              </a:defRPr>
            </a:defPPr>
          </a:lstStyle>
          <a:p>
            <a:pPr algn="l">
              <a:defRPr sz="2325" b="1">
                <a:solidFill>
                  <a:srgbClr val="102D3A"/>
                </a:solidFill>
                <a:latin typeface="Nimbus Sans"/>
                <a:ea typeface="Nimbus Sans"/>
                <a:cs typeface="Nimbus Sans"/>
              </a:defRPr>
            </a:pPr>
            <a:r>
              <a:rPr sz="2325" b="1">
                <a:solidFill>
                  <a:srgbClr val="102D3A"/>
                </a:solidFill>
                <a:latin typeface="Nimbus Sans"/>
                <a:ea typeface="Nimbus Sans"/>
                <a:cs typeface="Nimbus Sans"/>
              </a:rPr>
              <a:t>Source pretraining</a:t>
            </a:r>
          </a:p>
        </p:txBody>
      </p:sp>
      <p:sp>
        <p:nvSpPr>
          <p:cNvPr id="5" name="step-description-1">
            <a:extLst>
              <a:ext uri="{FF2B5EF4-FFF2-40B4-BE49-F238E27FC236}">
                <a16:creationId xmlns:a16="http://schemas.microsoft.com/office/drawing/2014/main" xmlns="" id="{598DB3BA-41FF-4E26-B3A8-88CE02E4D440}"/>
              </a:ext>
            </a:extLst>
          </p:cNvPr>
          <p:cNvSpPr>
            <a:spLocks noGrp="1"/>
          </p:cNvSpPr>
          <p:nvPr/>
        </p:nvSpPr>
        <p:spPr>
          <a:xfrm>
            <a:off x="1581150" y="1914525"/>
            <a:ext cx="9582150" cy="542925"/>
          </a:xfrm>
          <a:prstGeom prst="rect">
            <a:avLst/>
          </a:prstGeom>
          <a:noFill/>
          <a:ln w="0">
            <a:noFill/>
          </a:ln>
        </p:spPr>
        <p:txBody>
          <a:bodyPr lIns="0" tIns="0" rIns="0" bIns="0" anchor="t">
            <a:noAutofit/>
          </a:bodyPr>
          <a:lstStyle>
            <a:defPPr algn="l">
              <a:defRPr sz="2025" b="0">
                <a:solidFill>
                  <a:srgbClr val="183542"/>
                </a:solidFill>
                <a:latin typeface="Nimbus Sans"/>
                <a:ea typeface="Nimbus Sans"/>
                <a:cs typeface="Nimbus Sans"/>
              </a:defRPr>
            </a:defPPr>
          </a:lstStyle>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ECG backbone + RR timing features + dual classifiers [1].</a:t>
            </a:r>
          </a:p>
        </p:txBody>
      </p:sp>
      <p:sp>
        <p:nvSpPr>
          <p:cNvPr id="6" name="step-2">
            <a:extLst>
              <a:ext uri="{FF2B5EF4-FFF2-40B4-BE49-F238E27FC236}">
                <a16:creationId xmlns:a16="http://schemas.microsoft.com/office/drawing/2014/main" xmlns="" id="{83AD8FE9-B0A2-4837-B72A-D80A9F46CF2F}"/>
              </a:ext>
            </a:extLst>
          </p:cNvPr>
          <p:cNvSpPr>
            <a:spLocks noGrp="1"/>
          </p:cNvSpPr>
          <p:nvPr/>
        </p:nvSpPr>
        <p:spPr>
          <a:xfrm>
            <a:off x="742950" y="2562225"/>
            <a:ext cx="666750" cy="485775"/>
          </a:xfrm>
          <a:prstGeom prst="rect">
            <a:avLst/>
          </a:prstGeom>
          <a:noFill/>
          <a:ln w="0">
            <a:noFill/>
          </a:ln>
        </p:spPr>
        <p:txBody>
          <a:bodyPr lIns="0" tIns="0" rIns="0" bIns="0" anchor="t">
            <a:noAutofit/>
          </a:bodyPr>
          <a:lstStyle>
            <a:defPPr algn="l">
              <a:defRPr sz="3000" b="1">
                <a:solidFill>
                  <a:srgbClr val="057C80"/>
                </a:solidFill>
                <a:latin typeface="Nimbus Sans"/>
                <a:ea typeface="Nimbus Sans"/>
                <a:cs typeface="Nimbus Sans"/>
              </a:defRPr>
            </a:defPPr>
          </a:lstStyle>
          <a:p>
            <a:pPr algn="l">
              <a:defRPr sz="3000" b="1">
                <a:solidFill>
                  <a:srgbClr val="057C80"/>
                </a:solidFill>
                <a:latin typeface="Nimbus Sans"/>
                <a:ea typeface="Nimbus Sans"/>
                <a:cs typeface="Nimbus Sans"/>
              </a:defRPr>
            </a:pPr>
            <a:r>
              <a:rPr sz="3000" b="1">
                <a:solidFill>
                  <a:srgbClr val="057C80"/>
                </a:solidFill>
                <a:latin typeface="Nimbus Sans"/>
                <a:ea typeface="Nimbus Sans"/>
                <a:cs typeface="Nimbus Sans"/>
              </a:rPr>
              <a:t>02</a:t>
            </a:r>
          </a:p>
        </p:txBody>
      </p:sp>
      <p:sp>
        <p:nvSpPr>
          <p:cNvPr id="7" name="step-heading-2">
            <a:extLst>
              <a:ext uri="{FF2B5EF4-FFF2-40B4-BE49-F238E27FC236}">
                <a16:creationId xmlns:a16="http://schemas.microsoft.com/office/drawing/2014/main" xmlns="" id="{35EA6EFD-B4A1-40FF-A40E-5E3A95A16965}"/>
              </a:ext>
            </a:extLst>
          </p:cNvPr>
          <p:cNvSpPr>
            <a:spLocks noGrp="1"/>
          </p:cNvSpPr>
          <p:nvPr/>
        </p:nvSpPr>
        <p:spPr>
          <a:xfrm>
            <a:off x="1581150" y="2562225"/>
            <a:ext cx="9667875" cy="428625"/>
          </a:xfrm>
          <a:prstGeom prst="rect">
            <a:avLst/>
          </a:prstGeom>
          <a:noFill/>
          <a:ln w="0">
            <a:noFill/>
          </a:ln>
        </p:spPr>
        <p:txBody>
          <a:bodyPr lIns="0" tIns="0" rIns="0" bIns="0" anchor="t">
            <a:noAutofit/>
          </a:bodyPr>
          <a:lstStyle>
            <a:defPPr algn="l">
              <a:defRPr sz="2325" b="1">
                <a:solidFill>
                  <a:srgbClr val="102D3A"/>
                </a:solidFill>
                <a:latin typeface="Nimbus Sans"/>
                <a:ea typeface="Nimbus Sans"/>
                <a:cs typeface="Nimbus Sans"/>
              </a:defRPr>
            </a:defPPr>
          </a:lstStyle>
          <a:p>
            <a:pPr algn="l">
              <a:defRPr sz="2325" b="1">
                <a:solidFill>
                  <a:srgbClr val="102D3A"/>
                </a:solidFill>
                <a:latin typeface="Nimbus Sans"/>
                <a:ea typeface="Nimbus Sans"/>
                <a:cs typeface="Nimbus Sans"/>
              </a:defRPr>
            </a:pPr>
            <a:r>
              <a:rPr sz="2325" b="1">
                <a:solidFill>
                  <a:srgbClr val="102D3A"/>
                </a:solidFill>
                <a:latin typeface="Nimbus Sans"/>
                <a:ea typeface="Nimbus Sans"/>
                <a:cs typeface="Nimbus Sans"/>
              </a:rPr>
              <a:t>Target-only computation</a:t>
            </a:r>
          </a:p>
        </p:txBody>
      </p:sp>
      <p:sp>
        <p:nvSpPr>
          <p:cNvPr id="8" name="step-description-2">
            <a:extLst>
              <a:ext uri="{FF2B5EF4-FFF2-40B4-BE49-F238E27FC236}">
                <a16:creationId xmlns:a16="http://schemas.microsoft.com/office/drawing/2014/main" xmlns="" id="{A127DACA-D3AC-4EA1-95EE-B328B2BC82EC}"/>
              </a:ext>
            </a:extLst>
          </p:cNvPr>
          <p:cNvSpPr>
            <a:spLocks noGrp="1"/>
          </p:cNvSpPr>
          <p:nvPr/>
        </p:nvSpPr>
        <p:spPr>
          <a:xfrm>
            <a:off x="1581150" y="3028950"/>
            <a:ext cx="9582150" cy="542925"/>
          </a:xfrm>
          <a:prstGeom prst="rect">
            <a:avLst/>
          </a:prstGeom>
          <a:noFill/>
          <a:ln w="0">
            <a:noFill/>
          </a:ln>
        </p:spPr>
        <p:txBody>
          <a:bodyPr lIns="0" tIns="0" rIns="0" bIns="0" anchor="t">
            <a:noAutofit/>
          </a:bodyPr>
          <a:lstStyle>
            <a:defPPr algn="l">
              <a:defRPr sz="2025" b="0">
                <a:solidFill>
                  <a:srgbClr val="183542"/>
                </a:solidFill>
                <a:latin typeface="Nimbus Sans"/>
                <a:ea typeface="Nimbus Sans"/>
                <a:cs typeface="Nimbus Sans"/>
              </a:defRPr>
            </a:defPPr>
          </a:lstStyle>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Estimate pseudo-labels and target centroids from unlabeled ECG [2].</a:t>
            </a:r>
          </a:p>
        </p:txBody>
      </p:sp>
      <p:sp>
        <p:nvSpPr>
          <p:cNvPr id="9" name="step-3">
            <a:extLst>
              <a:ext uri="{FF2B5EF4-FFF2-40B4-BE49-F238E27FC236}">
                <a16:creationId xmlns:a16="http://schemas.microsoft.com/office/drawing/2014/main" xmlns="" id="{FD251B25-6392-4817-892C-A9423AA38E7A}"/>
              </a:ext>
            </a:extLst>
          </p:cNvPr>
          <p:cNvSpPr>
            <a:spLocks noGrp="1"/>
          </p:cNvSpPr>
          <p:nvPr/>
        </p:nvSpPr>
        <p:spPr>
          <a:xfrm>
            <a:off x="742950" y="3676650"/>
            <a:ext cx="666750" cy="485775"/>
          </a:xfrm>
          <a:prstGeom prst="rect">
            <a:avLst/>
          </a:prstGeom>
          <a:noFill/>
          <a:ln w="0">
            <a:noFill/>
          </a:ln>
        </p:spPr>
        <p:txBody>
          <a:bodyPr lIns="0" tIns="0" rIns="0" bIns="0" anchor="t">
            <a:noAutofit/>
          </a:bodyPr>
          <a:lstStyle>
            <a:defPPr algn="l">
              <a:defRPr sz="3000" b="1">
                <a:solidFill>
                  <a:srgbClr val="057C80"/>
                </a:solidFill>
                <a:latin typeface="Nimbus Sans"/>
                <a:ea typeface="Nimbus Sans"/>
                <a:cs typeface="Nimbus Sans"/>
              </a:defRPr>
            </a:defPPr>
          </a:lstStyle>
          <a:p>
            <a:pPr algn="l">
              <a:defRPr sz="3000" b="1">
                <a:solidFill>
                  <a:srgbClr val="057C80"/>
                </a:solidFill>
                <a:latin typeface="Nimbus Sans"/>
                <a:ea typeface="Nimbus Sans"/>
                <a:cs typeface="Nimbus Sans"/>
              </a:defRPr>
            </a:pPr>
            <a:r>
              <a:rPr sz="3000" b="1">
                <a:solidFill>
                  <a:srgbClr val="057C80"/>
                </a:solidFill>
                <a:latin typeface="Nimbus Sans"/>
                <a:ea typeface="Nimbus Sans"/>
                <a:cs typeface="Nimbus Sans"/>
              </a:rPr>
              <a:t>03</a:t>
            </a:r>
          </a:p>
        </p:txBody>
      </p:sp>
      <p:sp>
        <p:nvSpPr>
          <p:cNvPr id="10" name="step-heading-3">
            <a:extLst>
              <a:ext uri="{FF2B5EF4-FFF2-40B4-BE49-F238E27FC236}">
                <a16:creationId xmlns:a16="http://schemas.microsoft.com/office/drawing/2014/main" xmlns="" id="{46717975-3C02-4B52-B0B2-687257CCB9C2}"/>
              </a:ext>
            </a:extLst>
          </p:cNvPr>
          <p:cNvSpPr>
            <a:spLocks noGrp="1"/>
          </p:cNvSpPr>
          <p:nvPr/>
        </p:nvSpPr>
        <p:spPr>
          <a:xfrm>
            <a:off x="1581150" y="3676650"/>
            <a:ext cx="9667875" cy="428625"/>
          </a:xfrm>
          <a:prstGeom prst="rect">
            <a:avLst/>
          </a:prstGeom>
          <a:noFill/>
          <a:ln w="0">
            <a:noFill/>
          </a:ln>
        </p:spPr>
        <p:txBody>
          <a:bodyPr lIns="0" tIns="0" rIns="0" bIns="0" anchor="t">
            <a:noAutofit/>
          </a:bodyPr>
          <a:lstStyle>
            <a:defPPr algn="l">
              <a:defRPr sz="2325" b="1">
                <a:solidFill>
                  <a:srgbClr val="102D3A"/>
                </a:solidFill>
                <a:latin typeface="Nimbus Sans"/>
                <a:ea typeface="Nimbus Sans"/>
                <a:cs typeface="Nimbus Sans"/>
              </a:defRPr>
            </a:defPPr>
          </a:lstStyle>
          <a:p>
            <a:pPr algn="l">
              <a:defRPr sz="2325" b="1">
                <a:solidFill>
                  <a:srgbClr val="102D3A"/>
                </a:solidFill>
                <a:latin typeface="Nimbus Sans"/>
                <a:ea typeface="Nimbus Sans"/>
                <a:cs typeface="Nimbus Sans"/>
              </a:defRPr>
            </a:pPr>
            <a:r>
              <a:rPr sz="2325" b="1">
                <a:solidFill>
                  <a:srgbClr val="102D3A"/>
                </a:solidFill>
                <a:latin typeface="Nimbus Sans"/>
                <a:ea typeface="Nimbus Sans"/>
                <a:cs typeface="Nimbus Sans"/>
              </a:rPr>
              <a:t>Joint multi-target updates</a:t>
            </a:r>
          </a:p>
        </p:txBody>
      </p:sp>
      <p:sp>
        <p:nvSpPr>
          <p:cNvPr id="11" name="step-description-3">
            <a:extLst>
              <a:ext uri="{FF2B5EF4-FFF2-40B4-BE49-F238E27FC236}">
                <a16:creationId xmlns:a16="http://schemas.microsoft.com/office/drawing/2014/main" xmlns="" id="{8AD2AEE8-2512-4C32-9DA1-558AA07334D0}"/>
              </a:ext>
            </a:extLst>
          </p:cNvPr>
          <p:cNvSpPr>
            <a:spLocks noGrp="1"/>
          </p:cNvSpPr>
          <p:nvPr/>
        </p:nvSpPr>
        <p:spPr>
          <a:xfrm>
            <a:off x="1581150" y="4143375"/>
            <a:ext cx="9582150" cy="542925"/>
          </a:xfrm>
          <a:prstGeom prst="rect">
            <a:avLst/>
          </a:prstGeom>
          <a:noFill/>
          <a:ln w="0">
            <a:noFill/>
          </a:ln>
        </p:spPr>
        <p:txBody>
          <a:bodyPr lIns="0" tIns="0" rIns="0" bIns="0" anchor="t">
            <a:noAutofit/>
          </a:bodyPr>
          <a:lstStyle>
            <a:defPPr algn="l">
              <a:defRPr sz="2025" b="0">
                <a:solidFill>
                  <a:srgbClr val="183542"/>
                </a:solidFill>
                <a:latin typeface="Nimbus Sans"/>
                <a:ea typeface="Nimbus Sans"/>
                <a:cs typeface="Nimbus Sans"/>
              </a:defRPr>
            </a:defPPr>
          </a:lstStyle>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Balance batches across target domains to train one shared model.</a:t>
            </a:r>
          </a:p>
        </p:txBody>
      </p:sp>
      <p:sp>
        <p:nvSpPr>
          <p:cNvPr id="12" name="step-4">
            <a:extLst>
              <a:ext uri="{FF2B5EF4-FFF2-40B4-BE49-F238E27FC236}">
                <a16:creationId xmlns:a16="http://schemas.microsoft.com/office/drawing/2014/main" xmlns="" id="{AB1253FB-95A8-4807-A7EF-CB89354B9DB4}"/>
              </a:ext>
            </a:extLst>
          </p:cNvPr>
          <p:cNvSpPr>
            <a:spLocks noGrp="1"/>
          </p:cNvSpPr>
          <p:nvPr/>
        </p:nvSpPr>
        <p:spPr>
          <a:xfrm>
            <a:off x="742950" y="4791075"/>
            <a:ext cx="666750" cy="485775"/>
          </a:xfrm>
          <a:prstGeom prst="rect">
            <a:avLst/>
          </a:prstGeom>
          <a:noFill/>
          <a:ln w="0">
            <a:noFill/>
          </a:ln>
        </p:spPr>
        <p:txBody>
          <a:bodyPr lIns="0" tIns="0" rIns="0" bIns="0" anchor="t">
            <a:noAutofit/>
          </a:bodyPr>
          <a:lstStyle>
            <a:defPPr algn="l">
              <a:defRPr sz="3000" b="1">
                <a:solidFill>
                  <a:srgbClr val="057C80"/>
                </a:solidFill>
                <a:latin typeface="Nimbus Sans"/>
                <a:ea typeface="Nimbus Sans"/>
                <a:cs typeface="Nimbus Sans"/>
              </a:defRPr>
            </a:defPPr>
          </a:lstStyle>
          <a:p>
            <a:pPr algn="l">
              <a:defRPr sz="3000" b="1">
                <a:solidFill>
                  <a:srgbClr val="057C80"/>
                </a:solidFill>
                <a:latin typeface="Nimbus Sans"/>
                <a:ea typeface="Nimbus Sans"/>
                <a:cs typeface="Nimbus Sans"/>
              </a:defRPr>
            </a:pPr>
            <a:r>
              <a:rPr sz="3000" b="1">
                <a:solidFill>
                  <a:srgbClr val="057C80"/>
                </a:solidFill>
                <a:latin typeface="Nimbus Sans"/>
                <a:ea typeface="Nimbus Sans"/>
                <a:cs typeface="Nimbus Sans"/>
              </a:rPr>
              <a:t>04</a:t>
            </a:r>
          </a:p>
        </p:txBody>
      </p:sp>
      <p:sp>
        <p:nvSpPr>
          <p:cNvPr id="13" name="step-heading-4">
            <a:extLst>
              <a:ext uri="{FF2B5EF4-FFF2-40B4-BE49-F238E27FC236}">
                <a16:creationId xmlns:a16="http://schemas.microsoft.com/office/drawing/2014/main" xmlns="" id="{E0C3EC1D-DFC5-478E-9EC7-0A251946408E}"/>
              </a:ext>
            </a:extLst>
          </p:cNvPr>
          <p:cNvSpPr>
            <a:spLocks noGrp="1"/>
          </p:cNvSpPr>
          <p:nvPr/>
        </p:nvSpPr>
        <p:spPr>
          <a:xfrm>
            <a:off x="1581150" y="4791075"/>
            <a:ext cx="9667875" cy="428625"/>
          </a:xfrm>
          <a:prstGeom prst="rect">
            <a:avLst/>
          </a:prstGeom>
          <a:noFill/>
          <a:ln w="0">
            <a:noFill/>
          </a:ln>
        </p:spPr>
        <p:txBody>
          <a:bodyPr lIns="0" tIns="0" rIns="0" bIns="0" anchor="t">
            <a:noAutofit/>
          </a:bodyPr>
          <a:lstStyle>
            <a:defPPr algn="l">
              <a:defRPr sz="2325" b="1">
                <a:solidFill>
                  <a:srgbClr val="102D3A"/>
                </a:solidFill>
                <a:latin typeface="Nimbus Sans"/>
                <a:ea typeface="Nimbus Sans"/>
                <a:cs typeface="Nimbus Sans"/>
              </a:defRPr>
            </a:defPPr>
          </a:lstStyle>
          <a:p>
            <a:pPr algn="l">
              <a:defRPr sz="2325" b="1">
                <a:solidFill>
                  <a:srgbClr val="102D3A"/>
                </a:solidFill>
                <a:latin typeface="Nimbus Sans"/>
                <a:ea typeface="Nimbus Sans"/>
                <a:cs typeface="Nimbus Sans"/>
              </a:defRPr>
            </a:pPr>
            <a:r>
              <a:rPr sz="2325" b="1">
                <a:solidFill>
                  <a:srgbClr val="102D3A"/>
                </a:solidFill>
                <a:latin typeface="Nimbus Sans"/>
                <a:ea typeface="Nimbus Sans"/>
                <a:cs typeface="Nimbus Sans"/>
              </a:rPr>
              <a:t>Class-aware reliability</a:t>
            </a:r>
          </a:p>
        </p:txBody>
      </p:sp>
      <p:sp>
        <p:nvSpPr>
          <p:cNvPr id="14" name="step-description-4">
            <a:extLst>
              <a:ext uri="{FF2B5EF4-FFF2-40B4-BE49-F238E27FC236}">
                <a16:creationId xmlns:a16="http://schemas.microsoft.com/office/drawing/2014/main" xmlns="" id="{C9C875F6-47E5-47A2-8716-967BF4FDB5A2}"/>
              </a:ext>
            </a:extLst>
          </p:cNvPr>
          <p:cNvSpPr>
            <a:spLocks noGrp="1"/>
          </p:cNvSpPr>
          <p:nvPr/>
        </p:nvSpPr>
        <p:spPr>
          <a:xfrm>
            <a:off x="1581150" y="5257800"/>
            <a:ext cx="9582150" cy="542925"/>
          </a:xfrm>
          <a:prstGeom prst="rect">
            <a:avLst/>
          </a:prstGeom>
          <a:noFill/>
          <a:ln w="0">
            <a:noFill/>
          </a:ln>
        </p:spPr>
        <p:txBody>
          <a:bodyPr lIns="0" tIns="0" rIns="0" bIns="0" anchor="t">
            <a:noAutofit/>
          </a:bodyPr>
          <a:lstStyle>
            <a:defPPr algn="l">
              <a:defRPr sz="2025" b="0">
                <a:solidFill>
                  <a:srgbClr val="183542"/>
                </a:solidFill>
                <a:latin typeface="Nimbus Sans"/>
                <a:ea typeface="Nimbus Sans"/>
                <a:cs typeface="Nimbus Sans"/>
              </a:defRPr>
            </a:defPPr>
          </a:lstStyle>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Test class-adaptive filtering and consistency among reliable neighbors.</a:t>
            </a:r>
          </a:p>
        </p:txBody>
      </p:sp>
      <p:sp>
        <p:nvSpPr>
          <p:cNvPr id="15" name="method-status">
            <a:extLst>
              <a:ext uri="{FF2B5EF4-FFF2-40B4-BE49-F238E27FC236}">
                <a16:creationId xmlns:a16="http://schemas.microsoft.com/office/drawing/2014/main" xmlns="" id="{B59ABA08-28C8-4C24-B1AE-80A659F51EF3}"/>
              </a:ext>
            </a:extLst>
          </p:cNvPr>
          <p:cNvSpPr>
            <a:spLocks noGrp="1"/>
          </p:cNvSpPr>
          <p:nvPr/>
        </p:nvSpPr>
        <p:spPr>
          <a:xfrm>
            <a:off x="723900" y="6248400"/>
            <a:ext cx="10525125" cy="304800"/>
          </a:xfrm>
          <a:prstGeom prst="rect">
            <a:avLst/>
          </a:prstGeom>
          <a:noFill/>
          <a:ln w="0">
            <a:noFill/>
          </a:ln>
        </p:spPr>
        <p:txBody>
          <a:bodyPr lIns="0" tIns="0" rIns="0" bIns="0" anchor="t">
            <a:noAutofit/>
          </a:bodyPr>
          <a:lstStyle>
            <a:defPPr algn="l">
              <a:defRPr sz="1725" b="0">
                <a:solidFill>
                  <a:srgbClr val="496371"/>
                </a:solidFill>
                <a:latin typeface="Nimbus Sans"/>
                <a:ea typeface="Nimbus Sans"/>
                <a:cs typeface="Nimbus Sans"/>
              </a:defRPr>
            </a:defPPr>
          </a:lstStyle>
          <a:p>
            <a:pPr algn="l">
              <a:defRPr sz="1725" b="0">
                <a:solidFill>
                  <a:srgbClr val="496371"/>
                </a:solidFill>
                <a:latin typeface="Nimbus Sans"/>
                <a:ea typeface="Nimbus Sans"/>
                <a:cs typeface="Nimbus Sans"/>
              </a:defRPr>
            </a:pPr>
            <a:r>
              <a:rPr sz="1725" b="0">
                <a:solidFill>
                  <a:srgbClr val="496371"/>
                </a:solidFill>
                <a:latin typeface="Nimbus Sans"/>
                <a:ea typeface="Nimbus Sans"/>
                <a:cs typeface="Nimbus Sans"/>
              </a:rPr>
              <a:t>DLAR/LCL is a transfer baseline. Candidate additions require ablation.</a:t>
            </a:r>
          </a:p>
        </p:txBody>
      </p:sp>
    </p:spTree>
    <p:extLst>
      <p:ext uri="{BB962C8B-B14F-4D97-AF65-F5344CB8AC3E}">
        <p14:creationId xmlns:p14="http://schemas.microsoft.com/office/powerpoint/2010/main" val="184498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8"/>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xmlns="" id="{4B884A15-1055-4DF9-A103-CCA17296E1CE}"/>
              </a:ext>
            </a:extLst>
          </p:cNvPr>
          <p:cNvSpPr>
            <a:spLocks noGrp="1"/>
          </p:cNvSpPr>
          <p:nvPr/>
        </p:nvSpPr>
        <p:spPr>
          <a:xfrm>
            <a:off x="723900" y="523875"/>
            <a:ext cx="10744200" cy="704850"/>
          </a:xfrm>
          <a:prstGeom prst="rect">
            <a:avLst/>
          </a:prstGeom>
          <a:noFill/>
          <a:ln w="0">
            <a:noFill/>
          </a:ln>
        </p:spPr>
        <p:txBody>
          <a:bodyPr lIns="0" tIns="0" rIns="0" bIns="0" anchor="t">
            <a:noAutofit/>
          </a:bodyPr>
          <a:lstStyle>
            <a:defPPr algn="l">
              <a:defRPr sz="3600" b="1">
                <a:solidFill>
                  <a:srgbClr val="102D3A"/>
                </a:solidFill>
                <a:latin typeface="Nimbus Sans"/>
                <a:ea typeface="Nimbus Sans"/>
                <a:cs typeface="Nimbus Sans"/>
              </a:defRPr>
            </a:defPPr>
          </a:lstStyle>
          <a:p>
            <a:pPr algn="l">
              <a:defRPr sz="3600" b="1">
                <a:solidFill>
                  <a:srgbClr val="102D3A"/>
                </a:solidFill>
                <a:latin typeface="Nimbus Sans"/>
                <a:ea typeface="Nimbus Sans"/>
                <a:cs typeface="Nimbus Sans"/>
              </a:defRPr>
            </a:pPr>
            <a:r>
              <a:rPr sz="3600" b="1">
                <a:solidFill>
                  <a:srgbClr val="102D3A"/>
                </a:solidFill>
                <a:latin typeface="Nimbus Sans"/>
                <a:ea typeface="Nimbus Sans"/>
                <a:cs typeface="Nimbus Sans"/>
              </a:rPr>
              <a:t>Experimental plan</a:t>
            </a:r>
          </a:p>
        </p:txBody>
      </p:sp>
      <p:sp>
        <p:nvSpPr>
          <p:cNvPr id="2" name="page-number">
            <a:extLst>
              <a:ext uri="{FF2B5EF4-FFF2-40B4-BE49-F238E27FC236}">
                <a16:creationId xmlns:a16="http://schemas.microsoft.com/office/drawing/2014/main" xmlns="" id="{AD93F608-9D29-4480-9E00-C3DA81AD421B}"/>
              </a:ext>
            </a:extLst>
          </p:cNvPr>
          <p:cNvSpPr>
            <a:spLocks noGrp="1"/>
          </p:cNvSpPr>
          <p:nvPr/>
        </p:nvSpPr>
        <p:spPr>
          <a:xfrm>
            <a:off x="11049000" y="6381750"/>
            <a:ext cx="457200" cy="257175"/>
          </a:xfrm>
          <a:prstGeom prst="rect">
            <a:avLst/>
          </a:prstGeom>
          <a:noFill/>
          <a:ln w="0">
            <a:noFill/>
          </a:ln>
        </p:spPr>
        <p:txBody>
          <a:bodyPr lIns="0" tIns="0" rIns="0" bIns="0" anchor="t">
            <a:noAutofit/>
          </a:bodyPr>
          <a:lstStyle>
            <a:defPPr algn="l">
              <a:defRPr sz="1350" b="0">
                <a:solidFill>
                  <a:srgbClr val="496371"/>
                </a:solidFill>
                <a:latin typeface="Nimbus Sans"/>
                <a:ea typeface="Nimbus Sans"/>
                <a:cs typeface="Nimbus Sans"/>
              </a:defRPr>
            </a:defPPr>
          </a:lstStyle>
          <a:p>
            <a:pPr algn="l">
              <a:defRPr sz="1350" b="0">
                <a:solidFill>
                  <a:srgbClr val="496371"/>
                </a:solidFill>
                <a:latin typeface="Nimbus Sans"/>
                <a:ea typeface="Nimbus Sans"/>
                <a:cs typeface="Nimbus Sans"/>
              </a:defRPr>
            </a:pPr>
            <a:r>
              <a:rPr sz="1350" b="0">
                <a:solidFill>
                  <a:srgbClr val="496371"/>
                </a:solidFill>
                <a:latin typeface="Nimbus Sans"/>
                <a:ea typeface="Nimbus Sans"/>
                <a:cs typeface="Nimbus Sans"/>
              </a:rPr>
              <a:t>05</a:t>
            </a:r>
          </a:p>
        </p:txBody>
      </p:sp>
      <p:graphicFrame>
        <p:nvGraphicFramePr>
          <p:cNvPr id="3" name="Table 2">
            <a:extLst>
              <a:ext uri="{FF2B5EF4-FFF2-40B4-BE49-F238E27FC236}">
                <a16:creationId xmlns:a16="http://schemas.microsoft.com/office/drawing/2014/main" xmlns="" id="{15DBE5DA-CD1B-4F0D-B9B8-DF7E652744D7}"/>
              </a:ext>
            </a:extLst>
          </p:cNvPr>
          <p:cNvGraphicFramePr/>
          <p:nvPr/>
        </p:nvGraphicFramePr>
        <p:xfrm>
          <a:off x="723900" y="1495425"/>
          <a:ext cx="6800850" cy="3457578"/>
        </p:xfrm>
        <a:graphic>
          <a:graphicData uri="http://schemas.openxmlformats.org/drawingml/2006/table">
            <a:tbl>
              <a:tblPr firstRow="1"/>
              <a:tblGrid>
                <a:gridCol w="3295650"/>
                <a:gridCol w="3505200"/>
              </a:tblGrid>
              <a:tr h="576263">
                <a:tc>
                  <a:txBody>
                    <a:bodyPr/>
                    <a:lstStyle/>
                    <a:p>
                      <a:r>
                        <a:rPr sz="1800" b="1">
                          <a:solidFill>
                            <a:srgbClr val="FFFFFF"/>
                          </a:solidFill>
                          <a:latin typeface="Nimbus Sans"/>
                          <a:ea typeface="Nimbus Sans"/>
                          <a:cs typeface="Nimbus Sans"/>
                        </a:rPr>
                        <a:t>Comparison</a:t>
                      </a:r>
                    </a:p>
                  </a:txBody>
                  <a:tcPr marL="161925" marR="133350" marT="95250" marB="95250" anchor="ctr">
                    <a:solidFill>
                      <a:srgbClr val="102D3A"/>
                    </a:solidFill>
                  </a:tcPr>
                </a:tc>
                <a:tc>
                  <a:txBody>
                    <a:bodyPr/>
                    <a:lstStyle/>
                    <a:p>
                      <a:r>
                        <a:rPr sz="1800" b="1">
                          <a:solidFill>
                            <a:srgbClr val="FFFFFF"/>
                          </a:solidFill>
                          <a:latin typeface="Nimbus Sans"/>
                          <a:ea typeface="Nimbus Sans"/>
                          <a:cs typeface="Nimbus Sans"/>
                        </a:rPr>
                        <a:t>Purpose</a:t>
                      </a:r>
                    </a:p>
                  </a:txBody>
                  <a:tcPr marL="161925" marR="133350" marT="95250" marB="95250" anchor="ctr">
                    <a:solidFill>
                      <a:srgbClr val="102D3A"/>
                    </a:solidFill>
                  </a:tcPr>
                </a:tc>
              </a:tr>
              <a:tr h="576263">
                <a:tc>
                  <a:txBody>
                    <a:bodyPr/>
                    <a:lstStyle/>
                    <a:p>
                      <a:r>
                        <a:rPr sz="1800" b="0">
                          <a:solidFill>
                            <a:srgbClr val="183542"/>
                          </a:solidFill>
                          <a:latin typeface="Nimbus Sans"/>
                          <a:ea typeface="Nimbus Sans"/>
                          <a:cs typeface="Nimbus Sans"/>
                        </a:rPr>
                        <a:t>Source-only</a:t>
                      </a:r>
                    </a:p>
                  </a:txBody>
                  <a:tcPr marL="161925" marR="133350" marT="95250" marB="95250" anchor="ctr">
                    <a:solidFill>
                      <a:srgbClr val="FFFFFF"/>
                    </a:solidFill>
                  </a:tcPr>
                </a:tc>
                <a:tc>
                  <a:txBody>
                    <a:bodyPr/>
                    <a:lstStyle/>
                    <a:p>
                      <a:r>
                        <a:rPr sz="1800" b="0">
                          <a:solidFill>
                            <a:srgbClr val="183542"/>
                          </a:solidFill>
                          <a:latin typeface="Nimbus Sans"/>
                          <a:ea typeface="Nimbus Sans"/>
                          <a:cs typeface="Nimbus Sans"/>
                        </a:rPr>
                        <a:t>Benefit of adaptation</a:t>
                      </a:r>
                    </a:p>
                  </a:txBody>
                  <a:tcPr marL="161925" marR="133350" marT="95250" marB="95250" anchor="ctr">
                    <a:solidFill>
                      <a:srgbClr val="FFFFFF"/>
                    </a:solidFill>
                  </a:tcPr>
                </a:tc>
              </a:tr>
              <a:tr h="576263">
                <a:tc>
                  <a:txBody>
                    <a:bodyPr/>
                    <a:lstStyle/>
                    <a:p>
                      <a:r>
                        <a:rPr sz="1800" b="0">
                          <a:solidFill>
                            <a:srgbClr val="183542"/>
                          </a:solidFill>
                          <a:latin typeface="Nimbus Sans"/>
                          <a:ea typeface="Nimbus Sans"/>
                          <a:cs typeface="Nimbus Sans"/>
                        </a:rPr>
                        <a:t>Independent ECG SFDA</a:t>
                      </a:r>
                    </a:p>
                  </a:txBody>
                  <a:tcPr marL="161925" marR="133350" marT="95250" marB="95250" anchor="ctr">
                    <a:solidFill>
                      <a:srgbClr val="ECF2F3"/>
                    </a:solidFill>
                  </a:tcPr>
                </a:tc>
                <a:tc>
                  <a:txBody>
                    <a:bodyPr/>
                    <a:lstStyle/>
                    <a:p>
                      <a:r>
                        <a:rPr sz="1800" b="0">
                          <a:solidFill>
                            <a:srgbClr val="183542"/>
                          </a:solidFill>
                          <a:latin typeface="Nimbus Sans"/>
                          <a:ea typeface="Nimbus Sans"/>
                          <a:cs typeface="Nimbus Sans"/>
                        </a:rPr>
                        <a:t>Benefit of joint training</a:t>
                      </a:r>
                    </a:p>
                  </a:txBody>
                  <a:tcPr marL="161925" marR="133350" marT="95250" marB="95250" anchor="ctr">
                    <a:solidFill>
                      <a:srgbClr val="ECF2F3"/>
                    </a:solidFill>
                  </a:tcPr>
                </a:tc>
              </a:tr>
              <a:tr h="576263">
                <a:tc>
                  <a:txBody>
                    <a:bodyPr/>
                    <a:lstStyle/>
                    <a:p>
                      <a:r>
                        <a:rPr sz="1800" b="0">
                          <a:solidFill>
                            <a:srgbClr val="183542"/>
                          </a:solidFill>
                          <a:latin typeface="Nimbus Sans"/>
                          <a:ea typeface="Nimbus Sans"/>
                          <a:cs typeface="Nimbus Sans"/>
                        </a:rPr>
                        <a:t>Naive pooled SFDA</a:t>
                      </a:r>
                    </a:p>
                  </a:txBody>
                  <a:tcPr marL="161925" marR="133350" marT="95250" marB="95250" anchor="ctr">
                    <a:solidFill>
                      <a:srgbClr val="FFFFFF"/>
                    </a:solidFill>
                  </a:tcPr>
                </a:tc>
                <a:tc>
                  <a:txBody>
                    <a:bodyPr/>
                    <a:lstStyle/>
                    <a:p>
                      <a:r>
                        <a:rPr sz="1800" b="0">
                          <a:solidFill>
                            <a:srgbClr val="183542"/>
                          </a:solidFill>
                          <a:latin typeface="Nimbus Sans"/>
                          <a:ea typeface="Nimbus Sans"/>
                          <a:cs typeface="Nimbus Sans"/>
                        </a:rPr>
                        <a:t>Benefit of proposed controls</a:t>
                      </a:r>
                    </a:p>
                  </a:txBody>
                  <a:tcPr marL="161925" marR="133350" marT="95250" marB="95250" anchor="ctr">
                    <a:solidFill>
                      <a:srgbClr val="FFFFFF"/>
                    </a:solidFill>
                  </a:tcPr>
                </a:tc>
              </a:tr>
              <a:tr h="576263">
                <a:tc>
                  <a:txBody>
                    <a:bodyPr/>
                    <a:lstStyle/>
                    <a:p>
                      <a:r>
                        <a:rPr sz="1800" b="0">
                          <a:solidFill>
                            <a:srgbClr val="183542"/>
                          </a:solidFill>
                          <a:latin typeface="Nimbus Sans"/>
                          <a:ea typeface="Nimbus Sans"/>
                          <a:cs typeface="Nimbus Sans"/>
                        </a:rPr>
                        <a:t>SHOT / CoNMix [3,4]</a:t>
                      </a:r>
                    </a:p>
                  </a:txBody>
                  <a:tcPr marL="161925" marR="133350" marT="95250" marB="95250" anchor="ctr">
                    <a:solidFill>
                      <a:srgbClr val="ECF2F3"/>
                    </a:solidFill>
                  </a:tcPr>
                </a:tc>
                <a:tc>
                  <a:txBody>
                    <a:bodyPr/>
                    <a:lstStyle/>
                    <a:p>
                      <a:r>
                        <a:rPr sz="1800" b="0">
                          <a:solidFill>
                            <a:srgbClr val="183542"/>
                          </a:solidFill>
                          <a:latin typeface="Nimbus Sans"/>
                          <a:ea typeface="Nimbus Sans"/>
                          <a:cs typeface="Nimbus Sans"/>
                        </a:rPr>
                        <a:t>Established SFDA baselines</a:t>
                      </a:r>
                    </a:p>
                  </a:txBody>
                  <a:tcPr marL="161925" marR="133350" marT="95250" marB="95250" anchor="ctr">
                    <a:solidFill>
                      <a:srgbClr val="ECF2F3"/>
                    </a:solidFill>
                  </a:tcPr>
                </a:tc>
              </a:tr>
              <a:tr h="576263">
                <a:tc>
                  <a:txBody>
                    <a:bodyPr/>
                    <a:lstStyle/>
                    <a:p>
                      <a:r>
                        <a:rPr sz="1800" b="0">
                          <a:solidFill>
                            <a:srgbClr val="183542"/>
                          </a:solidFill>
                          <a:latin typeface="Nimbus Sans"/>
                          <a:ea typeface="Nimbus Sans"/>
                          <a:cs typeface="Nimbus Sans"/>
                        </a:rPr>
                        <a:t>Proposed joint SFDA</a:t>
                      </a:r>
                    </a:p>
                  </a:txBody>
                  <a:tcPr marL="161925" marR="133350" marT="95250" marB="95250" anchor="ctr">
                    <a:solidFill>
                      <a:srgbClr val="FFFFFF"/>
                    </a:solidFill>
                  </a:tcPr>
                </a:tc>
                <a:tc>
                  <a:txBody>
                    <a:bodyPr/>
                    <a:lstStyle/>
                    <a:p>
                      <a:r>
                        <a:rPr sz="1800" b="0">
                          <a:solidFill>
                            <a:srgbClr val="183542"/>
                          </a:solidFill>
                          <a:latin typeface="Nimbus Sans"/>
                          <a:ea typeface="Nimbus Sans"/>
                          <a:cs typeface="Nimbus Sans"/>
                        </a:rPr>
                        <a:t>Full candidate method</a:t>
                      </a:r>
                    </a:p>
                  </a:txBody>
                  <a:tcPr marL="161925" marR="133350" marT="95250" marB="95250" anchor="ctr">
                    <a:solidFill>
                      <a:srgbClr val="FFFFFF"/>
                    </a:solidFill>
                  </a:tcPr>
                </a:tc>
              </a:tr>
            </a:tbl>
          </a:graphicData>
        </a:graphic>
      </p:graphicFrame>
      <p:sp>
        <p:nvSpPr>
          <p:cNvPr id="4" name="metrics-heading">
            <a:extLst>
              <a:ext uri="{FF2B5EF4-FFF2-40B4-BE49-F238E27FC236}">
                <a16:creationId xmlns:a16="http://schemas.microsoft.com/office/drawing/2014/main" xmlns="" id="{B3F8F6DB-2548-4034-9C99-B53973662C15}"/>
              </a:ext>
            </a:extLst>
          </p:cNvPr>
          <p:cNvSpPr>
            <a:spLocks noGrp="1"/>
          </p:cNvSpPr>
          <p:nvPr/>
        </p:nvSpPr>
        <p:spPr>
          <a:xfrm>
            <a:off x="7981950" y="1552575"/>
            <a:ext cx="3514725" cy="400050"/>
          </a:xfrm>
          <a:prstGeom prst="rect">
            <a:avLst/>
          </a:prstGeom>
          <a:noFill/>
          <a:ln w="0">
            <a:noFill/>
          </a:ln>
        </p:spPr>
        <p:txBody>
          <a:bodyPr lIns="0" tIns="0" rIns="0" bIns="0" anchor="t">
            <a:noAutofit/>
          </a:bodyPr>
          <a:lstStyle>
            <a:defPPr algn="l">
              <a:defRPr sz="2175" b="1">
                <a:solidFill>
                  <a:srgbClr val="057C80"/>
                </a:solidFill>
                <a:latin typeface="Nimbus Sans"/>
                <a:ea typeface="Nimbus Sans"/>
                <a:cs typeface="Nimbus Sans"/>
              </a:defRPr>
            </a:defPPr>
          </a:lstStyle>
          <a:p>
            <a:pPr algn="l">
              <a:defRPr sz="2175" b="1">
                <a:solidFill>
                  <a:srgbClr val="057C80"/>
                </a:solidFill>
                <a:latin typeface="Nimbus Sans"/>
                <a:ea typeface="Nimbus Sans"/>
                <a:cs typeface="Nimbus Sans"/>
              </a:defRPr>
            </a:pPr>
            <a:r>
              <a:rPr sz="2175" b="1">
                <a:solidFill>
                  <a:srgbClr val="057C80"/>
                </a:solidFill>
                <a:latin typeface="Nimbus Sans"/>
                <a:ea typeface="Nimbus Sans"/>
                <a:cs typeface="Nimbus Sans"/>
              </a:rPr>
              <a:t>Primary evaluation</a:t>
            </a:r>
          </a:p>
        </p:txBody>
      </p:sp>
      <p:sp>
        <p:nvSpPr>
          <p:cNvPr id="5" name="metrics">
            <a:extLst>
              <a:ext uri="{FF2B5EF4-FFF2-40B4-BE49-F238E27FC236}">
                <a16:creationId xmlns:a16="http://schemas.microsoft.com/office/drawing/2014/main" xmlns="" id="{F6F5776D-BFF7-4B1C-B3AD-5E4E4CD52358}"/>
              </a:ext>
            </a:extLst>
          </p:cNvPr>
          <p:cNvSpPr>
            <a:spLocks noGrp="1"/>
          </p:cNvSpPr>
          <p:nvPr/>
        </p:nvSpPr>
        <p:spPr>
          <a:xfrm>
            <a:off x="7981950" y="2124075"/>
            <a:ext cx="3514725" cy="2762250"/>
          </a:xfrm>
          <a:prstGeom prst="rect">
            <a:avLst/>
          </a:prstGeom>
          <a:noFill/>
          <a:ln w="0">
            <a:noFill/>
          </a:ln>
        </p:spPr>
        <p:txBody>
          <a:bodyPr lIns="0" tIns="0" rIns="0" bIns="0" anchor="t">
            <a:noAutofit/>
          </a:bodyPr>
          <a:lstStyle>
            <a:defPPr algn="l">
              <a:defRPr sz="1950" b="0">
                <a:solidFill>
                  <a:srgbClr val="183542"/>
                </a:solidFill>
                <a:latin typeface="Nimbus Sans"/>
                <a:ea typeface="Nimbus Sans"/>
                <a:cs typeface="Nimbus Sans"/>
              </a:defRPr>
            </a:defPPr>
          </a:lstStyle>
          <a:p>
            <a:pPr algn="l">
              <a:defRPr sz="1950" b="0">
                <a:solidFill>
                  <a:srgbClr val="183542"/>
                </a:solidFill>
                <a:latin typeface="Nimbus Sans"/>
                <a:ea typeface="Nimbus Sans"/>
                <a:cs typeface="Nimbus Sans"/>
              </a:defRPr>
            </a:pPr>
            <a:r>
              <a:rPr sz="1950" b="0">
                <a:solidFill>
                  <a:srgbClr val="183542"/>
                </a:solidFill>
                <a:latin typeface="Nimbus Sans"/>
                <a:ea typeface="Nimbus Sans"/>
                <a:cs typeface="Nimbus Sans"/>
              </a:rPr>
              <a:t>Macro-F1 for each target</a:t>
            </a:r>
          </a:p>
          <a:p>
            <a:endParaRPr sz="1950" b="0">
              <a:solidFill>
                <a:srgbClr val="183542"/>
              </a:solidFill>
              <a:latin typeface="Nimbus Sans"/>
              <a:ea typeface="Nimbus Sans"/>
              <a:cs typeface="Nimbus Sans"/>
            </a:endParaRPr>
          </a:p>
          <a:p>
            <a:pPr algn="l">
              <a:defRPr sz="1950" b="0">
                <a:solidFill>
                  <a:srgbClr val="183542"/>
                </a:solidFill>
                <a:latin typeface="Nimbus Sans"/>
                <a:ea typeface="Nimbus Sans"/>
                <a:cs typeface="Nimbus Sans"/>
              </a:defRPr>
            </a:pPr>
            <a:r>
              <a:rPr sz="1950" b="0">
                <a:solidFill>
                  <a:srgbClr val="183542"/>
                </a:solidFill>
                <a:latin typeface="Nimbus Sans"/>
                <a:ea typeface="Nimbus Sans"/>
                <a:cs typeface="Nimbus Sans"/>
              </a:rPr>
              <a:t>Mean and worst-target</a:t>
            </a:r>
          </a:p>
          <a:p>
            <a:pPr algn="l">
              <a:defRPr sz="1950" b="0">
                <a:solidFill>
                  <a:srgbClr val="183542"/>
                </a:solidFill>
                <a:latin typeface="Nimbus Sans"/>
                <a:ea typeface="Nimbus Sans"/>
                <a:cs typeface="Nimbus Sans"/>
              </a:defRPr>
            </a:pPr>
            <a:r>
              <a:rPr sz="1950" b="0">
                <a:solidFill>
                  <a:srgbClr val="183542"/>
                </a:solidFill>
                <a:latin typeface="Nimbus Sans"/>
                <a:ea typeface="Nimbus Sans"/>
                <a:cs typeface="Nimbus Sans"/>
              </a:rPr>
              <a:t>macro-F1</a:t>
            </a:r>
          </a:p>
          <a:p>
            <a:endParaRPr sz="1950" b="0">
              <a:solidFill>
                <a:srgbClr val="183542"/>
              </a:solidFill>
              <a:latin typeface="Nimbus Sans"/>
              <a:ea typeface="Nimbus Sans"/>
              <a:cs typeface="Nimbus Sans"/>
            </a:endParaRPr>
          </a:p>
          <a:p>
            <a:pPr algn="l">
              <a:defRPr sz="1950" b="0">
                <a:solidFill>
                  <a:srgbClr val="183542"/>
                </a:solidFill>
                <a:latin typeface="Nimbus Sans"/>
                <a:ea typeface="Nimbus Sans"/>
                <a:cs typeface="Nimbus Sans"/>
              </a:defRPr>
            </a:pPr>
            <a:r>
              <a:rPr sz="1950" b="0">
                <a:solidFill>
                  <a:srgbClr val="183542"/>
                </a:solidFill>
                <a:latin typeface="Nimbus Sans"/>
                <a:ea typeface="Nimbus Sans"/>
                <a:cs typeface="Nimbus Sans"/>
              </a:rPr>
              <a:t>Per-class F1 and</a:t>
            </a:r>
          </a:p>
          <a:p>
            <a:pPr algn="l">
              <a:defRPr sz="1950" b="0">
                <a:solidFill>
                  <a:srgbClr val="183542"/>
                </a:solidFill>
                <a:latin typeface="Nimbus Sans"/>
                <a:ea typeface="Nimbus Sans"/>
                <a:cs typeface="Nimbus Sans"/>
              </a:defRPr>
            </a:pPr>
            <a:r>
              <a:rPr sz="1950" b="0">
                <a:solidFill>
                  <a:srgbClr val="183542"/>
                </a:solidFill>
                <a:latin typeface="Nimbus Sans"/>
                <a:ea typeface="Nimbus Sans"/>
                <a:cs typeface="Nimbus Sans"/>
              </a:rPr>
              <a:t>sensitivity</a:t>
            </a:r>
          </a:p>
        </p:txBody>
      </p:sp>
      <p:sp>
        <p:nvSpPr>
          <p:cNvPr id="6" name="protocol-heading">
            <a:extLst>
              <a:ext uri="{FF2B5EF4-FFF2-40B4-BE49-F238E27FC236}">
                <a16:creationId xmlns:a16="http://schemas.microsoft.com/office/drawing/2014/main" xmlns="" id="{D17E74E6-93B3-49B8-B914-CB4CA4855617}"/>
              </a:ext>
            </a:extLst>
          </p:cNvPr>
          <p:cNvSpPr>
            <a:spLocks noGrp="1"/>
          </p:cNvSpPr>
          <p:nvPr/>
        </p:nvSpPr>
        <p:spPr>
          <a:xfrm>
            <a:off x="723900" y="5381625"/>
            <a:ext cx="10744200" cy="409575"/>
          </a:xfrm>
          <a:prstGeom prst="rect">
            <a:avLst/>
          </a:prstGeom>
          <a:noFill/>
          <a:ln w="0">
            <a:noFill/>
          </a:ln>
        </p:spPr>
        <p:txBody>
          <a:bodyPr lIns="0" tIns="0" rIns="0" bIns="0" anchor="t">
            <a:noAutofit/>
          </a:bodyPr>
          <a:lstStyle>
            <a:defPPr algn="l">
              <a:defRPr sz="2175" b="1">
                <a:solidFill>
                  <a:srgbClr val="102D3A"/>
                </a:solidFill>
                <a:latin typeface="Nimbus Sans"/>
                <a:ea typeface="Nimbus Sans"/>
                <a:cs typeface="Nimbus Sans"/>
              </a:defRPr>
            </a:defPPr>
          </a:lstStyle>
          <a:p>
            <a:pPr algn="l">
              <a:defRPr sz="2175" b="1">
                <a:solidFill>
                  <a:srgbClr val="102D3A"/>
                </a:solidFill>
                <a:latin typeface="Nimbus Sans"/>
                <a:ea typeface="Nimbus Sans"/>
                <a:cs typeface="Nimbus Sans"/>
              </a:defRPr>
            </a:pPr>
            <a:r>
              <a:rPr sz="2175" b="1">
                <a:solidFill>
                  <a:srgbClr val="102D3A"/>
                </a:solidFill>
                <a:latin typeface="Nimbus Sans"/>
                <a:ea typeface="Nimbus Sans"/>
                <a:cs typeface="Nimbus Sans"/>
              </a:rPr>
              <a:t>Grouped holdout protocol</a:t>
            </a:r>
          </a:p>
        </p:txBody>
      </p:sp>
      <p:sp>
        <p:nvSpPr>
          <p:cNvPr id="7" name="protocol">
            <a:extLst>
              <a:ext uri="{FF2B5EF4-FFF2-40B4-BE49-F238E27FC236}">
                <a16:creationId xmlns:a16="http://schemas.microsoft.com/office/drawing/2014/main" xmlns="" id="{57106FAD-7E88-49BF-9C58-0723EC169899}"/>
              </a:ext>
            </a:extLst>
          </p:cNvPr>
          <p:cNvSpPr>
            <a:spLocks noGrp="1"/>
          </p:cNvSpPr>
          <p:nvPr/>
        </p:nvSpPr>
        <p:spPr>
          <a:xfrm>
            <a:off x="723900" y="5876925"/>
            <a:ext cx="10763250" cy="676275"/>
          </a:xfrm>
          <a:prstGeom prst="rect">
            <a:avLst/>
          </a:prstGeom>
          <a:noFill/>
          <a:ln w="0">
            <a:noFill/>
          </a:ln>
        </p:spPr>
        <p:txBody>
          <a:bodyPr lIns="0" tIns="0" rIns="0" bIns="0" anchor="t">
            <a:noAutofit/>
          </a:bodyPr>
          <a:lstStyle>
            <a:defPPr algn="l">
              <a:defRPr sz="1875" b="0">
                <a:solidFill>
                  <a:srgbClr val="183542"/>
                </a:solidFill>
                <a:latin typeface="Nimbus Sans"/>
                <a:ea typeface="Nimbus Sans"/>
                <a:cs typeface="Nimbus Sans"/>
              </a:defRPr>
            </a:defPPr>
          </a:lstStyle>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rPr>
              <a:t>Separate adaptation and test patients/records. Keep paired leads together.</a:t>
            </a:r>
          </a:p>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rPr>
              <a:t>Use target labels only for final evaluation. Repeat runs with fixed seeds.</a:t>
            </a:r>
          </a:p>
        </p:txBody>
      </p:sp>
    </p:spTree>
    <p:extLst>
      <p:ext uri="{BB962C8B-B14F-4D97-AF65-F5344CB8AC3E}">
        <p14:creationId xmlns:p14="http://schemas.microsoft.com/office/powerpoint/2010/main" val="832615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8"/>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xmlns="" id="{EEE09298-024B-4E0C-9C6F-02702F7C68A4}"/>
              </a:ext>
            </a:extLst>
          </p:cNvPr>
          <p:cNvSpPr>
            <a:spLocks noGrp="1"/>
          </p:cNvSpPr>
          <p:nvPr/>
        </p:nvSpPr>
        <p:spPr>
          <a:xfrm>
            <a:off x="723900" y="523875"/>
            <a:ext cx="10744200" cy="704850"/>
          </a:xfrm>
          <a:prstGeom prst="rect">
            <a:avLst/>
          </a:prstGeom>
          <a:noFill/>
          <a:ln w="0">
            <a:noFill/>
          </a:ln>
        </p:spPr>
        <p:txBody>
          <a:bodyPr lIns="0" tIns="0" rIns="0" bIns="0" anchor="t">
            <a:noAutofit/>
          </a:bodyPr>
          <a:lstStyle>
            <a:defPPr algn="l">
              <a:defRPr sz="3600" b="1">
                <a:solidFill>
                  <a:srgbClr val="102D3A"/>
                </a:solidFill>
                <a:latin typeface="Nimbus Sans"/>
                <a:ea typeface="Nimbus Sans"/>
                <a:cs typeface="Nimbus Sans"/>
              </a:defRPr>
            </a:defPPr>
          </a:lstStyle>
          <a:p>
            <a:pPr algn="l">
              <a:defRPr sz="3600" b="1">
                <a:solidFill>
                  <a:srgbClr val="102D3A"/>
                </a:solidFill>
                <a:latin typeface="Nimbus Sans"/>
                <a:ea typeface="Nimbus Sans"/>
                <a:cs typeface="Nimbus Sans"/>
              </a:defRPr>
            </a:pPr>
            <a:r>
              <a:rPr sz="3600" b="1">
                <a:solidFill>
                  <a:srgbClr val="102D3A"/>
                </a:solidFill>
                <a:latin typeface="Nimbus Sans"/>
                <a:ea typeface="Nimbus Sans"/>
                <a:cs typeface="Nimbus Sans"/>
              </a:rPr>
              <a:t>Contributions to test</a:t>
            </a:r>
          </a:p>
        </p:txBody>
      </p:sp>
      <p:sp>
        <p:nvSpPr>
          <p:cNvPr id="2" name="page-number">
            <a:extLst>
              <a:ext uri="{FF2B5EF4-FFF2-40B4-BE49-F238E27FC236}">
                <a16:creationId xmlns:a16="http://schemas.microsoft.com/office/drawing/2014/main" xmlns="" id="{60F443A4-52D8-4252-8BD1-27F79D08FA29}"/>
              </a:ext>
            </a:extLst>
          </p:cNvPr>
          <p:cNvSpPr>
            <a:spLocks noGrp="1"/>
          </p:cNvSpPr>
          <p:nvPr/>
        </p:nvSpPr>
        <p:spPr>
          <a:xfrm>
            <a:off x="11049000" y="6381750"/>
            <a:ext cx="457200" cy="257175"/>
          </a:xfrm>
          <a:prstGeom prst="rect">
            <a:avLst/>
          </a:prstGeom>
          <a:noFill/>
          <a:ln w="0">
            <a:noFill/>
          </a:ln>
        </p:spPr>
        <p:txBody>
          <a:bodyPr lIns="0" tIns="0" rIns="0" bIns="0" anchor="t">
            <a:noAutofit/>
          </a:bodyPr>
          <a:lstStyle>
            <a:defPPr algn="l">
              <a:defRPr sz="1350" b="0">
                <a:solidFill>
                  <a:srgbClr val="496371"/>
                </a:solidFill>
                <a:latin typeface="Nimbus Sans"/>
                <a:ea typeface="Nimbus Sans"/>
                <a:cs typeface="Nimbus Sans"/>
              </a:defRPr>
            </a:defPPr>
          </a:lstStyle>
          <a:p>
            <a:pPr algn="l">
              <a:defRPr sz="1350" b="0">
                <a:solidFill>
                  <a:srgbClr val="496371"/>
                </a:solidFill>
                <a:latin typeface="Nimbus Sans"/>
                <a:ea typeface="Nimbus Sans"/>
                <a:cs typeface="Nimbus Sans"/>
              </a:defRPr>
            </a:pPr>
            <a:r>
              <a:rPr sz="1350" b="0">
                <a:solidFill>
                  <a:srgbClr val="496371"/>
                </a:solidFill>
                <a:latin typeface="Nimbus Sans"/>
                <a:ea typeface="Nimbus Sans"/>
                <a:cs typeface="Nimbus Sans"/>
              </a:rPr>
              <a:t>06</a:t>
            </a:r>
          </a:p>
        </p:txBody>
      </p:sp>
      <p:sp>
        <p:nvSpPr>
          <p:cNvPr id="3" name="hypothesis">
            <a:extLst>
              <a:ext uri="{FF2B5EF4-FFF2-40B4-BE49-F238E27FC236}">
                <a16:creationId xmlns:a16="http://schemas.microsoft.com/office/drawing/2014/main" xmlns="" id="{CB6B2EE7-D3E8-48AB-B459-AE61F3D5E444}"/>
              </a:ext>
            </a:extLst>
          </p:cNvPr>
          <p:cNvSpPr>
            <a:spLocks noGrp="1"/>
          </p:cNvSpPr>
          <p:nvPr/>
        </p:nvSpPr>
        <p:spPr>
          <a:xfrm>
            <a:off x="723900" y="1485900"/>
            <a:ext cx="10782300" cy="1219200"/>
          </a:xfrm>
          <a:prstGeom prst="rect">
            <a:avLst/>
          </a:prstGeom>
          <a:noFill/>
          <a:ln w="0">
            <a:noFill/>
          </a:ln>
        </p:spPr>
        <p:txBody>
          <a:bodyPr lIns="0" tIns="0" rIns="0" bIns="0" anchor="t">
            <a:noAutofit/>
          </a:bodyPr>
          <a:lstStyle>
            <a:defPPr algn="l">
              <a:defRPr sz="3225" b="1">
                <a:solidFill>
                  <a:srgbClr val="057C80"/>
                </a:solidFill>
                <a:latin typeface="Nimbus Sans"/>
                <a:ea typeface="Nimbus Sans"/>
                <a:cs typeface="Nimbus Sans"/>
              </a:defRPr>
            </a:defPPr>
          </a:lstStyle>
          <a:p>
            <a:pPr algn="l">
              <a:defRPr sz="3225" b="1">
                <a:solidFill>
                  <a:srgbClr val="057C80"/>
                </a:solidFill>
                <a:latin typeface="Nimbus Sans"/>
                <a:ea typeface="Nimbus Sans"/>
                <a:cs typeface="Nimbus Sans"/>
              </a:defRPr>
            </a:pPr>
            <a:r>
              <a:rPr sz="3225" b="1">
                <a:solidFill>
                  <a:srgbClr val="057C80"/>
                </a:solidFill>
                <a:latin typeface="Nimbus Sans"/>
                <a:ea typeface="Nimbus Sans"/>
                <a:cs typeface="Nimbus Sans"/>
              </a:rPr>
              <a:t>Can one shared adapted model improve</a:t>
            </a:r>
          </a:p>
          <a:p>
            <a:pPr algn="l">
              <a:defRPr sz="3225" b="1">
                <a:solidFill>
                  <a:srgbClr val="057C80"/>
                </a:solidFill>
                <a:latin typeface="Nimbus Sans"/>
                <a:ea typeface="Nimbus Sans"/>
                <a:cs typeface="Nimbus Sans"/>
              </a:defRPr>
            </a:pPr>
            <a:r>
              <a:rPr sz="3225" b="1">
                <a:solidFill>
                  <a:srgbClr val="057C80"/>
                </a:solidFill>
                <a:latin typeface="Nimbus Sans"/>
                <a:ea typeface="Nimbus Sans"/>
                <a:cs typeface="Nimbus Sans"/>
              </a:rPr>
              <a:t>mean and worst-target macro-F1?</a:t>
            </a:r>
          </a:p>
        </p:txBody>
      </p:sp>
      <p:sp>
        <p:nvSpPr>
          <p:cNvPr id="4" name="contribution-heading">
            <a:extLst>
              <a:ext uri="{FF2B5EF4-FFF2-40B4-BE49-F238E27FC236}">
                <a16:creationId xmlns:a16="http://schemas.microsoft.com/office/drawing/2014/main" xmlns="" id="{5280FD7A-14BD-46AD-A14A-1681F7591833}"/>
              </a:ext>
            </a:extLst>
          </p:cNvPr>
          <p:cNvSpPr>
            <a:spLocks noGrp="1"/>
          </p:cNvSpPr>
          <p:nvPr/>
        </p:nvSpPr>
        <p:spPr>
          <a:xfrm>
            <a:off x="723900" y="3257550"/>
            <a:ext cx="5048250" cy="419100"/>
          </a:xfrm>
          <a:prstGeom prst="rect">
            <a:avLst/>
          </a:prstGeom>
          <a:noFill/>
          <a:ln w="0">
            <a:noFill/>
          </a:ln>
        </p:spPr>
        <p:txBody>
          <a:bodyPr lIns="0" tIns="0" rIns="0" bIns="0" anchor="t">
            <a:noAutofit/>
          </a:bodyPr>
          <a:lstStyle>
            <a:defPPr algn="l">
              <a:defRPr sz="2250" b="1">
                <a:solidFill>
                  <a:srgbClr val="102D3A"/>
                </a:solidFill>
                <a:latin typeface="Nimbus Sans"/>
                <a:ea typeface="Nimbus Sans"/>
                <a:cs typeface="Nimbus Sans"/>
              </a:defRPr>
            </a:defPPr>
          </a:lstStyle>
          <a:p>
            <a:pPr algn="l">
              <a:defRPr sz="2250" b="1">
                <a:solidFill>
                  <a:srgbClr val="102D3A"/>
                </a:solidFill>
                <a:latin typeface="Nimbus Sans"/>
                <a:ea typeface="Nimbus Sans"/>
                <a:cs typeface="Nimbus Sans"/>
              </a:defRPr>
            </a:pPr>
            <a:r>
              <a:rPr sz="2250" b="1">
                <a:solidFill>
                  <a:srgbClr val="102D3A"/>
                </a:solidFill>
                <a:latin typeface="Nimbus Sans"/>
                <a:ea typeface="Nimbus Sans"/>
                <a:cs typeface="Nimbus Sans"/>
              </a:rPr>
              <a:t>Proposed contribution</a:t>
            </a:r>
          </a:p>
        </p:txBody>
      </p:sp>
      <p:sp>
        <p:nvSpPr>
          <p:cNvPr id="5" name="contribution">
            <a:extLst>
              <a:ext uri="{FF2B5EF4-FFF2-40B4-BE49-F238E27FC236}">
                <a16:creationId xmlns:a16="http://schemas.microsoft.com/office/drawing/2014/main" xmlns="" id="{32A29F49-0226-4210-B702-B78D2DA51B8B}"/>
              </a:ext>
            </a:extLst>
          </p:cNvPr>
          <p:cNvSpPr>
            <a:spLocks noGrp="1"/>
          </p:cNvSpPr>
          <p:nvPr/>
        </p:nvSpPr>
        <p:spPr>
          <a:xfrm>
            <a:off x="723900" y="3790950"/>
            <a:ext cx="5048250" cy="1657350"/>
          </a:xfrm>
          <a:prstGeom prst="rect">
            <a:avLst/>
          </a:prstGeom>
          <a:noFill/>
          <a:ln w="0">
            <a:noFill/>
          </a:ln>
        </p:spPr>
        <p:txBody>
          <a:bodyPr lIns="0" tIns="0" rIns="0" bIns="0" anchor="t">
            <a:noAutofit/>
          </a:bodyPr>
          <a:lstStyle>
            <a:defPPr algn="l">
              <a:defRPr sz="2175" b="0">
                <a:solidFill>
                  <a:srgbClr val="183542"/>
                </a:solidFill>
                <a:latin typeface="Nimbus Sans"/>
                <a:ea typeface="Nimbus Sans"/>
                <a:cs typeface="Nimbus Sans"/>
              </a:defRPr>
            </a:defPPr>
          </a:lstStyle>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A target-only ECG framework for</a:t>
            </a:r>
          </a:p>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multiple databases and leads,</a:t>
            </a:r>
          </a:p>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with reliable updates for</a:t>
            </a:r>
          </a:p>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minority classes.</a:t>
            </a:r>
          </a:p>
        </p:txBody>
      </p:sp>
      <p:sp>
        <p:nvSpPr>
          <p:cNvPr id="6" name="evidence-heading">
            <a:extLst>
              <a:ext uri="{FF2B5EF4-FFF2-40B4-BE49-F238E27FC236}">
                <a16:creationId xmlns:a16="http://schemas.microsoft.com/office/drawing/2014/main" xmlns="" id="{1FB84F94-53E1-4555-B2E1-804ADF9CDD75}"/>
              </a:ext>
            </a:extLst>
          </p:cNvPr>
          <p:cNvSpPr>
            <a:spLocks noGrp="1"/>
          </p:cNvSpPr>
          <p:nvPr/>
        </p:nvSpPr>
        <p:spPr>
          <a:xfrm>
            <a:off x="6572250" y="3257550"/>
            <a:ext cx="4895850" cy="419100"/>
          </a:xfrm>
          <a:prstGeom prst="rect">
            <a:avLst/>
          </a:prstGeom>
          <a:noFill/>
          <a:ln w="0">
            <a:noFill/>
          </a:ln>
        </p:spPr>
        <p:txBody>
          <a:bodyPr lIns="0" tIns="0" rIns="0" bIns="0" anchor="t">
            <a:noAutofit/>
          </a:bodyPr>
          <a:lstStyle>
            <a:defPPr algn="l">
              <a:defRPr sz="2250" b="1">
                <a:solidFill>
                  <a:srgbClr val="102D3A"/>
                </a:solidFill>
                <a:latin typeface="Nimbus Sans"/>
                <a:ea typeface="Nimbus Sans"/>
                <a:cs typeface="Nimbus Sans"/>
              </a:defRPr>
            </a:defPPr>
          </a:lstStyle>
          <a:p>
            <a:pPr algn="l">
              <a:defRPr sz="2250" b="1">
                <a:solidFill>
                  <a:srgbClr val="102D3A"/>
                </a:solidFill>
                <a:latin typeface="Nimbus Sans"/>
                <a:ea typeface="Nimbus Sans"/>
                <a:cs typeface="Nimbus Sans"/>
              </a:defRPr>
            </a:pPr>
            <a:r>
              <a:rPr sz="2250" b="1">
                <a:solidFill>
                  <a:srgbClr val="102D3A"/>
                </a:solidFill>
                <a:latin typeface="Nimbus Sans"/>
                <a:ea typeface="Nimbus Sans"/>
                <a:cs typeface="Nimbus Sans"/>
              </a:rPr>
              <a:t>Evidence required</a:t>
            </a:r>
          </a:p>
        </p:txBody>
      </p:sp>
      <p:sp>
        <p:nvSpPr>
          <p:cNvPr id="7" name="evidence">
            <a:extLst>
              <a:ext uri="{FF2B5EF4-FFF2-40B4-BE49-F238E27FC236}">
                <a16:creationId xmlns:a16="http://schemas.microsoft.com/office/drawing/2014/main" xmlns="" id="{9D5EA096-C5F0-47B8-B5BE-D50FBC9D859A}"/>
              </a:ext>
            </a:extLst>
          </p:cNvPr>
          <p:cNvSpPr>
            <a:spLocks noGrp="1"/>
          </p:cNvSpPr>
          <p:nvPr/>
        </p:nvSpPr>
        <p:spPr>
          <a:xfrm>
            <a:off x="6572250" y="3790950"/>
            <a:ext cx="4895850" cy="1657350"/>
          </a:xfrm>
          <a:prstGeom prst="rect">
            <a:avLst/>
          </a:prstGeom>
          <a:noFill/>
          <a:ln w="0">
            <a:noFill/>
          </a:ln>
        </p:spPr>
        <p:txBody>
          <a:bodyPr lIns="0" tIns="0" rIns="0" bIns="0" anchor="t">
            <a:noAutofit/>
          </a:bodyPr>
          <a:lstStyle>
            <a:defPPr algn="l">
              <a:defRPr sz="2175" b="0">
                <a:solidFill>
                  <a:srgbClr val="183542"/>
                </a:solidFill>
                <a:latin typeface="Nimbus Sans"/>
                <a:ea typeface="Nimbus Sans"/>
                <a:cs typeface="Nimbus Sans"/>
              </a:defRPr>
            </a:defPPr>
          </a:lstStyle>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Compare with independent SFDA.</a:t>
            </a:r>
          </a:p>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Ablate target balancing,</a:t>
            </a:r>
          </a:p>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confidence filtering, and</a:t>
            </a:r>
          </a:p>
          <a:p>
            <a:pPr algn="l">
              <a:defRPr sz="2175" b="0">
                <a:solidFill>
                  <a:srgbClr val="183542"/>
                </a:solidFill>
                <a:latin typeface="Nimbus Sans"/>
                <a:ea typeface="Nimbus Sans"/>
                <a:cs typeface="Nimbus Sans"/>
              </a:defRPr>
            </a:pPr>
            <a:r>
              <a:rPr sz="2175" b="0">
                <a:solidFill>
                  <a:srgbClr val="183542"/>
                </a:solidFill>
                <a:latin typeface="Nimbus Sans"/>
                <a:ea typeface="Nimbus Sans"/>
                <a:cs typeface="Nimbus Sans"/>
              </a:rPr>
              <a:t>local consistency.</a:t>
            </a:r>
          </a:p>
        </p:txBody>
      </p:sp>
      <p:sp>
        <p:nvSpPr>
          <p:cNvPr id="8" name="negative-transfer">
            <a:extLst>
              <a:ext uri="{FF2B5EF4-FFF2-40B4-BE49-F238E27FC236}">
                <a16:creationId xmlns:a16="http://schemas.microsoft.com/office/drawing/2014/main" xmlns="" id="{094693EB-9EF9-468F-B3AC-C29228739B4F}"/>
              </a:ext>
            </a:extLst>
          </p:cNvPr>
          <p:cNvSpPr>
            <a:spLocks noGrp="1"/>
          </p:cNvSpPr>
          <p:nvPr/>
        </p:nvSpPr>
        <p:spPr>
          <a:xfrm>
            <a:off x="723900" y="5734050"/>
            <a:ext cx="10744200" cy="419100"/>
          </a:xfrm>
          <a:prstGeom prst="rect">
            <a:avLst/>
          </a:prstGeom>
          <a:noFill/>
          <a:ln w="0">
            <a:noFill/>
          </a:ln>
        </p:spPr>
        <p:txBody>
          <a:bodyPr lIns="0" tIns="0" rIns="0" bIns="0" anchor="t">
            <a:noAutofit/>
          </a:bodyPr>
          <a:lstStyle>
            <a:defPPr algn="l">
              <a:defRPr sz="2025" b="0">
                <a:solidFill>
                  <a:srgbClr val="183542"/>
                </a:solidFill>
                <a:latin typeface="Nimbus Sans"/>
                <a:ea typeface="Nimbus Sans"/>
                <a:cs typeface="Nimbus Sans"/>
              </a:defRPr>
            </a:defPPr>
          </a:lstStyle>
          <a:p>
            <a:pPr algn="l">
              <a:defRPr sz="2025" b="0">
                <a:solidFill>
                  <a:srgbClr val="183542"/>
                </a:solidFill>
                <a:latin typeface="Nimbus Sans"/>
                <a:ea typeface="Nimbus Sans"/>
                <a:cs typeface="Nimbus Sans"/>
              </a:defRPr>
            </a:pPr>
            <a:r>
              <a:rPr sz="2025" b="0">
                <a:solidFill>
                  <a:srgbClr val="183542"/>
                </a:solidFill>
                <a:latin typeface="Nimbus Sans"/>
                <a:ea typeface="Nimbus Sans"/>
                <a:cs typeface="Nimbus Sans"/>
              </a:rPr>
              <a:t>Measure negative transfer separately for every target.</a:t>
            </a:r>
          </a:p>
        </p:txBody>
      </p:sp>
      <p:sp>
        <p:nvSpPr>
          <p:cNvPr id="9" name="proposal-status">
            <a:extLst>
              <a:ext uri="{FF2B5EF4-FFF2-40B4-BE49-F238E27FC236}">
                <a16:creationId xmlns:a16="http://schemas.microsoft.com/office/drawing/2014/main" xmlns="" id="{37223497-9877-4679-808C-BC54BD9C8C50}"/>
              </a:ext>
            </a:extLst>
          </p:cNvPr>
          <p:cNvSpPr>
            <a:spLocks noGrp="1"/>
          </p:cNvSpPr>
          <p:nvPr/>
        </p:nvSpPr>
        <p:spPr>
          <a:xfrm>
            <a:off x="723900" y="6219825"/>
            <a:ext cx="10210800" cy="295275"/>
          </a:xfrm>
          <a:prstGeom prst="rect">
            <a:avLst/>
          </a:prstGeom>
          <a:noFill/>
          <a:ln w="0">
            <a:noFill/>
          </a:ln>
        </p:spPr>
        <p:txBody>
          <a:bodyPr lIns="0" tIns="0" rIns="0" bIns="0" anchor="t">
            <a:noAutofit/>
          </a:bodyPr>
          <a:lstStyle>
            <a:defPPr algn="l">
              <a:defRPr sz="1725" b="0">
                <a:solidFill>
                  <a:srgbClr val="496371"/>
                </a:solidFill>
                <a:latin typeface="Nimbus Sans"/>
                <a:ea typeface="Nimbus Sans"/>
                <a:cs typeface="Nimbus Sans"/>
              </a:defRPr>
            </a:defPPr>
          </a:lstStyle>
          <a:p>
            <a:pPr algn="l">
              <a:defRPr sz="1725" b="0">
                <a:solidFill>
                  <a:srgbClr val="496371"/>
                </a:solidFill>
                <a:latin typeface="Nimbus Sans"/>
                <a:ea typeface="Nimbus Sans"/>
                <a:cs typeface="Nimbus Sans"/>
              </a:defRPr>
            </a:pPr>
            <a:r>
              <a:rPr sz="1725" b="0">
                <a:solidFill>
                  <a:srgbClr val="496371"/>
                </a:solidFill>
                <a:latin typeface="Nimbus Sans"/>
                <a:ea typeface="Nimbus Sans"/>
                <a:cs typeface="Nimbus Sans"/>
              </a:rPr>
              <a:t>Proposal stage. Experimental results are pending.</a:t>
            </a:r>
          </a:p>
        </p:txBody>
      </p:sp>
    </p:spTree>
    <p:extLst>
      <p:ext uri="{BB962C8B-B14F-4D97-AF65-F5344CB8AC3E}">
        <p14:creationId xmlns:p14="http://schemas.microsoft.com/office/powerpoint/2010/main" val="278489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8"/>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xmlns="" id="{5AD54402-42D2-49B8-B2A4-8D609D282ECC}"/>
              </a:ext>
            </a:extLst>
          </p:cNvPr>
          <p:cNvSpPr>
            <a:spLocks noGrp="1"/>
          </p:cNvSpPr>
          <p:nvPr/>
        </p:nvSpPr>
        <p:spPr>
          <a:xfrm>
            <a:off x="723900" y="523875"/>
            <a:ext cx="10744200" cy="704850"/>
          </a:xfrm>
          <a:prstGeom prst="rect">
            <a:avLst/>
          </a:prstGeom>
          <a:noFill/>
          <a:ln w="0">
            <a:noFill/>
          </a:ln>
        </p:spPr>
        <p:txBody>
          <a:bodyPr lIns="0" tIns="0" rIns="0" bIns="0" anchor="t">
            <a:noAutofit/>
          </a:bodyPr>
          <a:lstStyle>
            <a:defPPr algn="l">
              <a:defRPr sz="3600" b="1">
                <a:solidFill>
                  <a:srgbClr val="102D3A"/>
                </a:solidFill>
                <a:latin typeface="Nimbus Sans"/>
                <a:ea typeface="Nimbus Sans"/>
                <a:cs typeface="Nimbus Sans"/>
              </a:defRPr>
            </a:defPPr>
          </a:lstStyle>
          <a:p>
            <a:pPr algn="l">
              <a:defRPr sz="3600" b="1">
                <a:solidFill>
                  <a:srgbClr val="102D3A"/>
                </a:solidFill>
                <a:latin typeface="Nimbus Sans"/>
                <a:ea typeface="Nimbus Sans"/>
                <a:cs typeface="Nimbus Sans"/>
              </a:defRPr>
            </a:pPr>
            <a:r>
              <a:rPr sz="3600" b="1">
                <a:solidFill>
                  <a:srgbClr val="102D3A"/>
                </a:solidFill>
                <a:latin typeface="Nimbus Sans"/>
                <a:ea typeface="Nimbus Sans"/>
                <a:cs typeface="Nimbus Sans"/>
              </a:rPr>
              <a:t>Key references</a:t>
            </a:r>
          </a:p>
        </p:txBody>
      </p:sp>
      <p:sp>
        <p:nvSpPr>
          <p:cNvPr id="2" name="page-number">
            <a:extLst>
              <a:ext uri="{FF2B5EF4-FFF2-40B4-BE49-F238E27FC236}">
                <a16:creationId xmlns:a16="http://schemas.microsoft.com/office/drawing/2014/main" xmlns="" id="{B2B74831-1DB7-46FB-B871-2E86703D0FB4}"/>
              </a:ext>
            </a:extLst>
          </p:cNvPr>
          <p:cNvSpPr>
            <a:spLocks noGrp="1"/>
          </p:cNvSpPr>
          <p:nvPr/>
        </p:nvSpPr>
        <p:spPr>
          <a:xfrm>
            <a:off x="11049000" y="6381750"/>
            <a:ext cx="457200" cy="257175"/>
          </a:xfrm>
          <a:prstGeom prst="rect">
            <a:avLst/>
          </a:prstGeom>
          <a:noFill/>
          <a:ln w="0">
            <a:noFill/>
          </a:ln>
        </p:spPr>
        <p:txBody>
          <a:bodyPr lIns="0" tIns="0" rIns="0" bIns="0" anchor="t">
            <a:noAutofit/>
          </a:bodyPr>
          <a:lstStyle>
            <a:defPPr algn="l">
              <a:defRPr sz="1350" b="0">
                <a:solidFill>
                  <a:srgbClr val="496371"/>
                </a:solidFill>
                <a:latin typeface="Nimbus Sans"/>
                <a:ea typeface="Nimbus Sans"/>
                <a:cs typeface="Nimbus Sans"/>
              </a:defRPr>
            </a:defPPr>
          </a:lstStyle>
          <a:p>
            <a:pPr algn="l">
              <a:defRPr sz="1350" b="0">
                <a:solidFill>
                  <a:srgbClr val="496371"/>
                </a:solidFill>
                <a:latin typeface="Nimbus Sans"/>
                <a:ea typeface="Nimbus Sans"/>
                <a:cs typeface="Nimbus Sans"/>
              </a:defRPr>
            </a:pPr>
            <a:r>
              <a:rPr sz="1350" b="0">
                <a:solidFill>
                  <a:srgbClr val="496371"/>
                </a:solidFill>
                <a:latin typeface="Nimbus Sans"/>
                <a:ea typeface="Nimbus Sans"/>
                <a:cs typeface="Nimbus Sans"/>
              </a:rPr>
              <a:t>07</a:t>
            </a:r>
          </a:p>
        </p:txBody>
      </p:sp>
      <p:sp>
        <p:nvSpPr>
          <p:cNvPr id="3" name="reference-author-0">
            <a:extLst>
              <a:ext uri="{FF2B5EF4-FFF2-40B4-BE49-F238E27FC236}">
                <a16:creationId xmlns:a16="http://schemas.microsoft.com/office/drawing/2014/main" xmlns="" id="{40F8D3E6-484B-47CC-B5A2-4094128C9355}"/>
              </a:ext>
            </a:extLst>
          </p:cNvPr>
          <p:cNvSpPr>
            <a:spLocks noGrp="1"/>
          </p:cNvSpPr>
          <p:nvPr/>
        </p:nvSpPr>
        <p:spPr>
          <a:xfrm>
            <a:off x="723900" y="1438275"/>
            <a:ext cx="10744200" cy="333375"/>
          </a:xfrm>
          <a:prstGeom prst="rect">
            <a:avLst/>
          </a:prstGeom>
          <a:noFill/>
          <a:ln w="0">
            <a:noFill/>
          </a:ln>
        </p:spPr>
        <p:txBody>
          <a:bodyPr lIns="0" tIns="0" rIns="0" bIns="0" anchor="t">
            <a:noAutofit/>
          </a:bodyPr>
          <a:lstStyle>
            <a:defPPr algn="l">
              <a:defRPr sz="2025" b="1">
                <a:solidFill>
                  <a:srgbClr val="102D3A"/>
                </a:solidFill>
                <a:latin typeface="Nimbus Sans"/>
                <a:ea typeface="Nimbus Sans"/>
                <a:cs typeface="Nimbus Sans"/>
              </a:defRPr>
            </a:defPPr>
          </a:lstStyle>
          <a:p>
            <a:pPr algn="l">
              <a:defRPr sz="2025" b="1">
                <a:solidFill>
                  <a:srgbClr val="102D3A"/>
                </a:solidFill>
                <a:latin typeface="Nimbus Sans"/>
                <a:ea typeface="Nimbus Sans"/>
                <a:cs typeface="Nimbus Sans"/>
              </a:defRPr>
            </a:pPr>
            <a:r>
              <a:rPr sz="2025" b="1">
                <a:solidFill>
                  <a:srgbClr val="102D3A"/>
                </a:solidFill>
                <a:latin typeface="Nimbus Sans"/>
                <a:ea typeface="Nimbus Sans"/>
                <a:cs typeface="Nimbus Sans"/>
              </a:rPr>
              <a:t>[1] Imtiaz and Khan, Expert Systems with Applications (2024)</a:t>
            </a:r>
          </a:p>
        </p:txBody>
      </p:sp>
      <p:sp>
        <p:nvSpPr>
          <p:cNvPr id="4" name="reference-title-0">
            <a:extLst>
              <a:ext uri="{FF2B5EF4-FFF2-40B4-BE49-F238E27FC236}">
                <a16:creationId xmlns:a16="http://schemas.microsoft.com/office/drawing/2014/main" xmlns="" id="{E1F84BBD-70C6-49AB-A483-41018B52FE77}"/>
              </a:ext>
            </a:extLst>
          </p:cNvPr>
          <p:cNvSpPr>
            <a:spLocks noGrp="1"/>
          </p:cNvSpPr>
          <p:nvPr/>
        </p:nvSpPr>
        <p:spPr>
          <a:xfrm>
            <a:off x="723900" y="1838325"/>
            <a:ext cx="10744200" cy="628650"/>
          </a:xfrm>
          <a:prstGeom prst="rect">
            <a:avLst/>
          </a:prstGeom>
          <a:noFill/>
          <a:ln w="0">
            <a:noFill/>
          </a:ln>
        </p:spPr>
        <p:txBody>
          <a:bodyPr lIns="0" tIns="0" rIns="0" bIns="0" anchor="t">
            <a:noAutofit/>
          </a:bodyPr>
          <a:lstStyle>
            <a:defPPr algn="l">
              <a:defRPr sz="1875" b="0">
                <a:solidFill>
                  <a:srgbClr val="183542"/>
                </a:solidFill>
                <a:latin typeface="Nimbus Sans"/>
                <a:ea typeface="Nimbus Sans"/>
                <a:cs typeface="Nimbus Sans"/>
              </a:defRPr>
            </a:defPPr>
          </a:lstStyle>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3"/>
              </a:rPr>
              <a:t>Cross-database and cross-channel electrocardiogram arrhythmia heartbeat</a:t>
            </a:r>
          </a:p>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3"/>
              </a:rPr>
              <a:t>classification based on unsupervised domain adaptation</a:t>
            </a:r>
          </a:p>
        </p:txBody>
      </p:sp>
      <p:sp>
        <p:nvSpPr>
          <p:cNvPr id="5" name="reference-author-1">
            <a:extLst>
              <a:ext uri="{FF2B5EF4-FFF2-40B4-BE49-F238E27FC236}">
                <a16:creationId xmlns:a16="http://schemas.microsoft.com/office/drawing/2014/main" xmlns="" id="{E87A8865-758A-492E-8D48-D9574AD94CB0}"/>
              </a:ext>
            </a:extLst>
          </p:cNvPr>
          <p:cNvSpPr>
            <a:spLocks noGrp="1"/>
          </p:cNvSpPr>
          <p:nvPr/>
        </p:nvSpPr>
        <p:spPr>
          <a:xfrm>
            <a:off x="723900" y="2619375"/>
            <a:ext cx="10744200" cy="333375"/>
          </a:xfrm>
          <a:prstGeom prst="rect">
            <a:avLst/>
          </a:prstGeom>
          <a:noFill/>
          <a:ln w="0">
            <a:noFill/>
          </a:ln>
        </p:spPr>
        <p:txBody>
          <a:bodyPr lIns="0" tIns="0" rIns="0" bIns="0" anchor="t">
            <a:noAutofit/>
          </a:bodyPr>
          <a:lstStyle>
            <a:defPPr algn="l">
              <a:defRPr sz="2025" b="1">
                <a:solidFill>
                  <a:srgbClr val="102D3A"/>
                </a:solidFill>
                <a:latin typeface="Nimbus Sans"/>
                <a:ea typeface="Nimbus Sans"/>
                <a:cs typeface="Nimbus Sans"/>
              </a:defRPr>
            </a:defPPr>
          </a:lstStyle>
          <a:p>
            <a:pPr algn="l">
              <a:defRPr sz="2025" b="1">
                <a:solidFill>
                  <a:srgbClr val="102D3A"/>
                </a:solidFill>
                <a:latin typeface="Nimbus Sans"/>
                <a:ea typeface="Nimbus Sans"/>
                <a:cs typeface="Nimbus Sans"/>
              </a:defRPr>
            </a:pPr>
            <a:r>
              <a:rPr sz="2025" b="1">
                <a:solidFill>
                  <a:srgbClr val="102D3A"/>
                </a:solidFill>
                <a:latin typeface="Nimbus Sans"/>
                <a:ea typeface="Nimbus Sans"/>
                <a:cs typeface="Nimbus Sans"/>
              </a:rPr>
              <a:t>[2] Imtiaz and Khan, arXiv:2504.03707v2 (2025)</a:t>
            </a:r>
          </a:p>
        </p:txBody>
      </p:sp>
      <p:sp>
        <p:nvSpPr>
          <p:cNvPr id="6" name="reference-title-1">
            <a:extLst>
              <a:ext uri="{FF2B5EF4-FFF2-40B4-BE49-F238E27FC236}">
                <a16:creationId xmlns:a16="http://schemas.microsoft.com/office/drawing/2014/main" xmlns="" id="{D809C79A-D2C5-4D1C-874A-5019C02FA9FE}"/>
              </a:ext>
            </a:extLst>
          </p:cNvPr>
          <p:cNvSpPr>
            <a:spLocks noGrp="1"/>
          </p:cNvSpPr>
          <p:nvPr/>
        </p:nvSpPr>
        <p:spPr>
          <a:xfrm>
            <a:off x="723900" y="3019425"/>
            <a:ext cx="10744200" cy="628650"/>
          </a:xfrm>
          <a:prstGeom prst="rect">
            <a:avLst/>
          </a:prstGeom>
          <a:noFill/>
          <a:ln w="0">
            <a:noFill/>
          </a:ln>
        </p:spPr>
        <p:txBody>
          <a:bodyPr lIns="0" tIns="0" rIns="0" bIns="0" anchor="t">
            <a:noAutofit/>
          </a:bodyPr>
          <a:lstStyle>
            <a:defPPr algn="l">
              <a:defRPr sz="1875" b="0">
                <a:solidFill>
                  <a:srgbClr val="183542"/>
                </a:solidFill>
                <a:latin typeface="Nimbus Sans"/>
                <a:ea typeface="Nimbus Sans"/>
                <a:cs typeface="Nimbus Sans"/>
              </a:defRPr>
            </a:defPPr>
          </a:lstStyle>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4"/>
              </a:rPr>
              <a:t>Towards Practical Emotion Recognition: An Unsupervised Source-Free</a:t>
            </a:r>
          </a:p>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4"/>
              </a:rPr>
              <a:t>Approach for EEG Domain Adaptation</a:t>
            </a:r>
          </a:p>
        </p:txBody>
      </p:sp>
      <p:sp>
        <p:nvSpPr>
          <p:cNvPr id="7" name="reference-author-2">
            <a:extLst>
              <a:ext uri="{FF2B5EF4-FFF2-40B4-BE49-F238E27FC236}">
                <a16:creationId xmlns:a16="http://schemas.microsoft.com/office/drawing/2014/main" xmlns="" id="{C21D98CD-C569-404E-B056-15070989D0C6}"/>
              </a:ext>
            </a:extLst>
          </p:cNvPr>
          <p:cNvSpPr>
            <a:spLocks noGrp="1"/>
          </p:cNvSpPr>
          <p:nvPr/>
        </p:nvSpPr>
        <p:spPr>
          <a:xfrm>
            <a:off x="723900" y="3800475"/>
            <a:ext cx="10744200" cy="333375"/>
          </a:xfrm>
          <a:prstGeom prst="rect">
            <a:avLst/>
          </a:prstGeom>
          <a:noFill/>
          <a:ln w="0">
            <a:noFill/>
          </a:ln>
        </p:spPr>
        <p:txBody>
          <a:bodyPr lIns="0" tIns="0" rIns="0" bIns="0" anchor="t">
            <a:noAutofit/>
          </a:bodyPr>
          <a:lstStyle>
            <a:defPPr algn="l">
              <a:defRPr sz="2025" b="1">
                <a:solidFill>
                  <a:srgbClr val="102D3A"/>
                </a:solidFill>
                <a:latin typeface="Nimbus Sans"/>
                <a:ea typeface="Nimbus Sans"/>
                <a:cs typeface="Nimbus Sans"/>
              </a:defRPr>
            </a:defPPr>
          </a:lstStyle>
          <a:p>
            <a:pPr algn="l">
              <a:defRPr sz="2025" b="1">
                <a:solidFill>
                  <a:srgbClr val="102D3A"/>
                </a:solidFill>
                <a:latin typeface="Nimbus Sans"/>
                <a:ea typeface="Nimbus Sans"/>
                <a:cs typeface="Nimbus Sans"/>
              </a:defRPr>
            </a:pPr>
            <a:r>
              <a:rPr sz="2025" b="1">
                <a:solidFill>
                  <a:srgbClr val="102D3A"/>
                </a:solidFill>
                <a:latin typeface="Nimbus Sans"/>
                <a:ea typeface="Nimbus Sans"/>
                <a:cs typeface="Nimbus Sans"/>
              </a:rPr>
              <a:t>[3] Liang, Hu, and Feng, ICML (2020)</a:t>
            </a:r>
          </a:p>
        </p:txBody>
      </p:sp>
      <p:sp>
        <p:nvSpPr>
          <p:cNvPr id="8" name="reference-title-2">
            <a:extLst>
              <a:ext uri="{FF2B5EF4-FFF2-40B4-BE49-F238E27FC236}">
                <a16:creationId xmlns:a16="http://schemas.microsoft.com/office/drawing/2014/main" xmlns="" id="{6957B403-9A94-442D-B641-C9C70DE4F900}"/>
              </a:ext>
            </a:extLst>
          </p:cNvPr>
          <p:cNvSpPr>
            <a:spLocks noGrp="1"/>
          </p:cNvSpPr>
          <p:nvPr/>
        </p:nvSpPr>
        <p:spPr>
          <a:xfrm>
            <a:off x="723900" y="4200525"/>
            <a:ext cx="10744200" cy="628650"/>
          </a:xfrm>
          <a:prstGeom prst="rect">
            <a:avLst/>
          </a:prstGeom>
          <a:noFill/>
          <a:ln w="0">
            <a:noFill/>
          </a:ln>
        </p:spPr>
        <p:txBody>
          <a:bodyPr lIns="0" tIns="0" rIns="0" bIns="0" anchor="t">
            <a:noAutofit/>
          </a:bodyPr>
          <a:lstStyle>
            <a:defPPr algn="l">
              <a:defRPr sz="1875" b="0">
                <a:solidFill>
                  <a:srgbClr val="183542"/>
                </a:solidFill>
                <a:latin typeface="Nimbus Sans"/>
                <a:ea typeface="Nimbus Sans"/>
                <a:cs typeface="Nimbus Sans"/>
              </a:defRPr>
            </a:defPPr>
          </a:lstStyle>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5"/>
              </a:rPr>
              <a:t>Do We Really Need to Access the Source Data? Source Hypothesis Transfer</a:t>
            </a:r>
          </a:p>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5"/>
              </a:rPr>
              <a:t>for Unsupervised Domain Adaptation (SHOT)</a:t>
            </a:r>
          </a:p>
        </p:txBody>
      </p:sp>
      <p:sp>
        <p:nvSpPr>
          <p:cNvPr id="9" name="reference-author-3">
            <a:extLst>
              <a:ext uri="{FF2B5EF4-FFF2-40B4-BE49-F238E27FC236}">
                <a16:creationId xmlns:a16="http://schemas.microsoft.com/office/drawing/2014/main" xmlns="" id="{E0A9579D-0916-4104-A114-43649C816DB7}"/>
              </a:ext>
            </a:extLst>
          </p:cNvPr>
          <p:cNvSpPr>
            <a:spLocks noGrp="1"/>
          </p:cNvSpPr>
          <p:nvPr/>
        </p:nvSpPr>
        <p:spPr>
          <a:xfrm>
            <a:off x="723900" y="4981575"/>
            <a:ext cx="10744200" cy="333375"/>
          </a:xfrm>
          <a:prstGeom prst="rect">
            <a:avLst/>
          </a:prstGeom>
          <a:noFill/>
          <a:ln w="0">
            <a:noFill/>
          </a:ln>
        </p:spPr>
        <p:txBody>
          <a:bodyPr lIns="0" tIns="0" rIns="0" bIns="0" anchor="t">
            <a:noAutofit/>
          </a:bodyPr>
          <a:lstStyle>
            <a:defPPr algn="l">
              <a:defRPr sz="2025" b="1">
                <a:solidFill>
                  <a:srgbClr val="102D3A"/>
                </a:solidFill>
                <a:latin typeface="Nimbus Sans"/>
                <a:ea typeface="Nimbus Sans"/>
                <a:cs typeface="Nimbus Sans"/>
              </a:defRPr>
            </a:defPPr>
          </a:lstStyle>
          <a:p>
            <a:pPr algn="l">
              <a:defRPr sz="2025" b="1">
                <a:solidFill>
                  <a:srgbClr val="102D3A"/>
                </a:solidFill>
                <a:latin typeface="Nimbus Sans"/>
                <a:ea typeface="Nimbus Sans"/>
                <a:cs typeface="Nimbus Sans"/>
              </a:defRPr>
            </a:pPr>
            <a:r>
              <a:rPr sz="2025" b="1">
                <a:solidFill>
                  <a:srgbClr val="102D3A"/>
                </a:solidFill>
                <a:latin typeface="Nimbus Sans"/>
                <a:ea typeface="Nimbus Sans"/>
                <a:cs typeface="Nimbus Sans"/>
              </a:rPr>
              <a:t>[4] Kumar et al., WACV (2023)</a:t>
            </a:r>
          </a:p>
        </p:txBody>
      </p:sp>
      <p:sp>
        <p:nvSpPr>
          <p:cNvPr id="10" name="reference-title-3">
            <a:extLst>
              <a:ext uri="{FF2B5EF4-FFF2-40B4-BE49-F238E27FC236}">
                <a16:creationId xmlns:a16="http://schemas.microsoft.com/office/drawing/2014/main" xmlns="" id="{2920FB90-93FA-4371-905A-3E75697B88B1}"/>
              </a:ext>
            </a:extLst>
          </p:cNvPr>
          <p:cNvSpPr>
            <a:spLocks noGrp="1"/>
          </p:cNvSpPr>
          <p:nvPr/>
        </p:nvSpPr>
        <p:spPr>
          <a:xfrm>
            <a:off x="723900" y="5381625"/>
            <a:ext cx="10744200" cy="628650"/>
          </a:xfrm>
          <a:prstGeom prst="rect">
            <a:avLst/>
          </a:prstGeom>
          <a:noFill/>
          <a:ln w="0">
            <a:noFill/>
          </a:ln>
        </p:spPr>
        <p:txBody>
          <a:bodyPr lIns="0" tIns="0" rIns="0" bIns="0" anchor="t">
            <a:noAutofit/>
          </a:bodyPr>
          <a:lstStyle>
            <a:defPPr algn="l">
              <a:defRPr sz="1875" b="0">
                <a:solidFill>
                  <a:srgbClr val="183542"/>
                </a:solidFill>
                <a:latin typeface="Nimbus Sans"/>
                <a:ea typeface="Nimbus Sans"/>
                <a:cs typeface="Nimbus Sans"/>
              </a:defRPr>
            </a:defPPr>
          </a:lstStyle>
          <a:p>
            <a:pPr algn="l">
              <a:defRPr sz="1875" b="0">
                <a:solidFill>
                  <a:srgbClr val="183542"/>
                </a:solidFill>
                <a:latin typeface="Nimbus Sans"/>
                <a:ea typeface="Nimbus Sans"/>
                <a:cs typeface="Nimbus Sans"/>
              </a:defRPr>
            </a:pPr>
            <a:r>
              <a:rPr sz="1875" b="0">
                <a:solidFill>
                  <a:srgbClr val="183542"/>
                </a:solidFill>
                <a:latin typeface="Nimbus Sans"/>
                <a:ea typeface="Nimbus Sans"/>
                <a:cs typeface="Nimbus Sans"/>
                <a:hlinkClick r:id="rId6"/>
              </a:rPr>
              <a:t>CoNMix for Source-Free Single and Multi-Target Domain Adaptation</a:t>
            </a:r>
          </a:p>
        </p:txBody>
      </p:sp>
    </p:spTree>
    <p:extLst>
      <p:ext uri="{BB962C8B-B14F-4D97-AF65-F5344CB8AC3E}">
        <p14:creationId xmlns:p14="http://schemas.microsoft.com/office/powerpoint/2010/main" val="19907421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1282</Words>
  <Application>Microsoft Office PowerPoint</Application>
  <DocSecurity>0</DocSecurity>
  <PresentationFormat>Widescreen</PresentationFormat>
  <Paragraphs>139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Nimbus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account</cp:lastModifiedBy>
  <cp:revision>1</cp:revision>
  <dcterms:created xsi:type="dcterms:W3CDTF">2026-10-09T23:50:11Z</dcterms:created>
  <dcterms:modified xsi:type="dcterms:W3CDTF">2026-10-09T23:58:58Z</dcterms:modified>
</cp:coreProperties>
</file>