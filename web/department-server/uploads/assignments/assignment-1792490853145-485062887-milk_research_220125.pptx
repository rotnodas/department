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</p:sldIdLst>
  <p:sldSz cx="12192000" cy="6858000"/>
  <p:notesSz cx="6858000" cy="12192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Libre Baskerville" panose="020B0604020202020204" charset="0"/>
      <p:regular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Open Sans Bold" panose="020B0806030504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285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slow">
    <p:push dir="u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690092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Milk Quality Assessment Using Spectroscopy and Machine Learning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172228"/>
            <a:ext cx="629686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Presented by:</a:t>
            </a: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Md. Abu Rayhan  |  </a:t>
            </a: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Department:</a:t>
            </a: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Computer Science &amp; Engineering  |  </a:t>
            </a: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Supervisor:</a:t>
            </a: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Md. Toukir Ahmed</a:t>
            </a:r>
            <a:endParaRPr lang="en-US" sz="145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447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Use Spectroscopy for Milk Analysis?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167904"/>
            <a:ext cx="3598078" cy="9409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597" y="1316831"/>
            <a:ext cx="322403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Conventional Limitations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86597" y="1609130"/>
            <a:ext cx="3224033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Conventional milk analysis can require laboratory testing and chemical procedures.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198191"/>
            <a:ext cx="3598078" cy="9409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6597" y="2347119"/>
            <a:ext cx="322403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Rapid &amp; Non-Destructive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86597" y="2639417"/>
            <a:ext cx="3224033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Spectroscopy provides rapid and non-destructive analysis without consuming the sample.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228479"/>
            <a:ext cx="3598078" cy="9409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6597" y="3377406"/>
            <a:ext cx="322403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Information-Rich Spectra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886597" y="3669705"/>
            <a:ext cx="3224033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single spectrum contains information related to multiple chemical components simultaneously.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258766"/>
            <a:ext cx="3598078" cy="9409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6597" y="4407694"/>
            <a:ext cx="322403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 Monitoring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886597" y="4699992"/>
            <a:ext cx="3224033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Spectroscopy can potentially support real-time or on-farm milk quality monitoring.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289054"/>
            <a:ext cx="3598078" cy="94099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86597" y="5437981"/>
            <a:ext cx="322403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ML &amp; Chemometrics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886597" y="5730280"/>
            <a:ext cx="3224033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 and chemometrics are used to extract useful information from spectral data.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4489238" y="1067395"/>
            <a:ext cx="7140892" cy="5263158"/>
          </a:xfrm>
          <a:prstGeom prst="roundRect">
            <a:avLst>
              <a:gd name="adj" fmla="val 370"/>
            </a:avLst>
          </a:prstGeom>
          <a:solidFill>
            <a:srgbClr val="403CCF"/>
          </a:solidFill>
          <a:ln/>
        </p:spPr>
      </p:sp>
      <p:sp>
        <p:nvSpPr>
          <p:cNvPr id="19" name="Text 12"/>
          <p:cNvSpPr/>
          <p:nvPr/>
        </p:nvSpPr>
        <p:spPr>
          <a:xfrm>
            <a:off x="4619113" y="2057896"/>
            <a:ext cx="688114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Workflow</a:t>
            </a:r>
            <a:endParaRPr lang="en-US" sz="12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113" y="2361406"/>
            <a:ext cx="6881144" cy="296733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082189" y="4766024"/>
            <a:ext cx="2032867" cy="19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ML/Chemometric Model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082189" y="4079133"/>
            <a:ext cx="1561075" cy="19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5082189" y="3399182"/>
            <a:ext cx="1797946" cy="19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Spectral Measurement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5082189" y="2712291"/>
            <a:ext cx="1561075" cy="19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Milk Sample</a:t>
            </a:r>
            <a:endParaRPr lang="en-US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CF48AF4-BF48-49ED-9FA0-8A82DBC126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696" y="6568415"/>
            <a:ext cx="1661304" cy="28958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082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Can Be Determined from Milk Spectra?</a:t>
            </a:r>
            <a:endParaRPr lang="en-US" sz="2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66341"/>
          <a:ext cx="6936010" cy="4762976"/>
        </p:xfrm>
        <a:graphic>
          <a:graphicData uri="http://schemas.openxmlformats.org/drawingml/2006/table">
            <a:tbl>
              <a:tblPr/>
              <a:tblGrid>
                <a:gridCol w="346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8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2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Parameter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3C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Possible Application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403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3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Fat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Quantitative prediction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Protein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Quantitative prediction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Lactose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Quantitative prediction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Total Solids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Quantitative prediction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SNF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Milk composition assessment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5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Urea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Concentration estimation / adulteration screening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Water Adulteration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Adulteration detection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Melamine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Adulteration detection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Sucrose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Adulteration detection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4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Milk Powder Adulteration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Authenticity assessment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62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Somatic Cell Count (SCC)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9495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Milk/udder-health related monitoring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BF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333" y="1592858"/>
            <a:ext cx="3565138" cy="356522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71333" y="5293023"/>
            <a:ext cx="3565138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NIR and MIR/FTIR spectroscopy are particularly useful for major milk components, while FTIR has also been investigated for adulteration detection.</a:t>
            </a:r>
            <a:endParaRPr lang="en-US" sz="11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73E7EB-ABD8-49D1-8F68-A16F97BFF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696" y="6543015"/>
            <a:ext cx="1661304" cy="28958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799" y="500955"/>
            <a:ext cx="4391808" cy="5855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9970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Spectroscopic Techniques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661475" y="1370608"/>
            <a:ext cx="3062608" cy="3398044"/>
          </a:xfrm>
          <a:prstGeom prst="roundRect">
            <a:avLst>
              <a:gd name="adj" fmla="val 882"/>
            </a:avLst>
          </a:prstGeom>
          <a:solidFill>
            <a:srgbClr val="EAE8F3"/>
          </a:solidFill>
          <a:ln/>
        </p:spPr>
      </p:sp>
      <p:sp>
        <p:nvSpPr>
          <p:cNvPr id="6" name="Text 3"/>
          <p:cNvSpPr/>
          <p:nvPr/>
        </p:nvSpPr>
        <p:spPr>
          <a:xfrm>
            <a:off x="841552" y="1550690"/>
            <a:ext cx="2702453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Near-Infrared Spectroscopy (NIR)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1552" y="2216646"/>
            <a:ext cx="2702453" cy="1808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Commonly used for rapid milk composition analysis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Typical regions: ~700–1100 nm and 1100–2400 nm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Useful for predicting fat, protein and lactose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95727" y="1370608"/>
            <a:ext cx="3062608" cy="3398044"/>
          </a:xfrm>
          <a:prstGeom prst="roundRect">
            <a:avLst>
              <a:gd name="adj" fmla="val 882"/>
            </a:avLst>
          </a:prstGeom>
          <a:solidFill>
            <a:srgbClr val="EAE8F3"/>
          </a:solidFill>
          <a:ln/>
        </p:spPr>
      </p:sp>
      <p:sp>
        <p:nvSpPr>
          <p:cNvPr id="9" name="Text 6"/>
          <p:cNvSpPr/>
          <p:nvPr/>
        </p:nvSpPr>
        <p:spPr>
          <a:xfrm>
            <a:off x="4075804" y="1550690"/>
            <a:ext cx="27024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Mid-Infrared / FTIR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075804" y="1935163"/>
            <a:ext cx="2702453" cy="2653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strong information about molecular vibrations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Widely investigated for milk composition and adulteration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Chemometric models extract quantitative and qualitative information from FTIR spectra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4940300"/>
            <a:ext cx="6296860" cy="1367631"/>
          </a:xfrm>
          <a:prstGeom prst="roundRect">
            <a:avLst>
              <a:gd name="adj" fmla="val 1976"/>
            </a:avLst>
          </a:prstGeom>
          <a:solidFill>
            <a:srgbClr val="EAE8F3"/>
          </a:solidFill>
          <a:ln/>
        </p:spPr>
      </p:sp>
      <p:sp>
        <p:nvSpPr>
          <p:cNvPr id="12" name="Text 9"/>
          <p:cNvSpPr/>
          <p:nvPr/>
        </p:nvSpPr>
        <p:spPr>
          <a:xfrm>
            <a:off x="841552" y="5120382"/>
            <a:ext cx="59367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Raman / Fluorescence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41552" y="5504855"/>
            <a:ext cx="5936705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Also investigated for milk composition and quality assessment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Often combined with multivariate statistical models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2655"/>
            <a:ext cx="1086874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Spectral Data Preprocessing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038721"/>
            <a:ext cx="11478330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1175405"/>
            <a:ext cx="530826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Common Preprocessing Methods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1511498"/>
            <a:ext cx="413434" cy="620216"/>
          </a:xfrm>
          <a:prstGeom prst="roundRect">
            <a:avLst>
              <a:gd name="adj" fmla="val 50000"/>
            </a:avLst>
          </a:prstGeom>
          <a:solidFill>
            <a:srgbClr val="EAE8F3"/>
          </a:solidFill>
          <a:ln/>
        </p:spPr>
      </p:sp>
      <p:sp>
        <p:nvSpPr>
          <p:cNvPr id="6" name="Text 4"/>
          <p:cNvSpPr/>
          <p:nvPr/>
        </p:nvSpPr>
        <p:spPr>
          <a:xfrm>
            <a:off x="1131363" y="1614785"/>
            <a:ext cx="483838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SNV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31363" y="1832670"/>
            <a:ext cx="4838381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Normal Variate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1475" y="2188170"/>
            <a:ext cx="413434" cy="620216"/>
          </a:xfrm>
          <a:prstGeom prst="roundRect">
            <a:avLst>
              <a:gd name="adj" fmla="val 50000"/>
            </a:avLst>
          </a:prstGeom>
          <a:solidFill>
            <a:srgbClr val="EAE8F3"/>
          </a:solidFill>
          <a:ln/>
        </p:spPr>
      </p:sp>
      <p:sp>
        <p:nvSpPr>
          <p:cNvPr id="9" name="Text 7"/>
          <p:cNvSpPr/>
          <p:nvPr/>
        </p:nvSpPr>
        <p:spPr>
          <a:xfrm>
            <a:off x="1131363" y="2291457"/>
            <a:ext cx="483838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MSC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1363" y="2509341"/>
            <a:ext cx="4838381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Multiplicative Scatter Correction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1475" y="2864842"/>
            <a:ext cx="413434" cy="620216"/>
          </a:xfrm>
          <a:prstGeom prst="roundRect">
            <a:avLst>
              <a:gd name="adj" fmla="val 50000"/>
            </a:avLst>
          </a:prstGeom>
          <a:solidFill>
            <a:srgbClr val="EA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1131363" y="2968129"/>
            <a:ext cx="483838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S-G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31363" y="3186013"/>
            <a:ext cx="4838381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Savitzky–Golay smoothing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1475" y="3541514"/>
            <a:ext cx="413434" cy="620216"/>
          </a:xfrm>
          <a:prstGeom prst="roundRect">
            <a:avLst>
              <a:gd name="adj" fmla="val 50000"/>
            </a:avLst>
          </a:prstGeom>
          <a:solidFill>
            <a:srgbClr val="EA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1131363" y="3644801"/>
            <a:ext cx="483838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1st Deriv.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1363" y="3862685"/>
            <a:ext cx="4838381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 derivative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1475" y="4218186"/>
            <a:ext cx="413434" cy="620216"/>
          </a:xfrm>
          <a:prstGeom prst="roundRect">
            <a:avLst>
              <a:gd name="adj" fmla="val 50000"/>
            </a:avLst>
          </a:prstGeom>
          <a:solidFill>
            <a:srgbClr val="EAE8F3"/>
          </a:solidFill>
          <a:ln/>
        </p:spPr>
      </p:sp>
      <p:sp>
        <p:nvSpPr>
          <p:cNvPr id="18" name="Text 16"/>
          <p:cNvSpPr/>
          <p:nvPr/>
        </p:nvSpPr>
        <p:spPr>
          <a:xfrm>
            <a:off x="1131363" y="4321473"/>
            <a:ext cx="483838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2nd Deriv.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1363" y="4539357"/>
            <a:ext cx="4838381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 derivative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1475" y="4894858"/>
            <a:ext cx="413434" cy="620216"/>
          </a:xfrm>
          <a:prstGeom prst="roundRect">
            <a:avLst>
              <a:gd name="adj" fmla="val 50000"/>
            </a:avLst>
          </a:prstGeom>
          <a:solidFill>
            <a:srgbClr val="EAE8F3"/>
          </a:solidFill>
          <a:ln/>
        </p:spPr>
      </p:sp>
      <p:sp>
        <p:nvSpPr>
          <p:cNvPr id="21" name="Text 19"/>
          <p:cNvSpPr/>
          <p:nvPr/>
        </p:nvSpPr>
        <p:spPr>
          <a:xfrm>
            <a:off x="1131363" y="4998145"/>
            <a:ext cx="483838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Norm.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31363" y="5216029"/>
            <a:ext cx="4838381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1475" y="5571530"/>
            <a:ext cx="413434" cy="620216"/>
          </a:xfrm>
          <a:prstGeom prst="roundRect">
            <a:avLst>
              <a:gd name="adj" fmla="val 50000"/>
            </a:avLst>
          </a:prstGeom>
          <a:solidFill>
            <a:srgbClr val="EAE8F3"/>
          </a:solidFill>
          <a:ln/>
        </p:spPr>
      </p:sp>
      <p:sp>
        <p:nvSpPr>
          <p:cNvPr id="24" name="Text 22"/>
          <p:cNvSpPr/>
          <p:nvPr/>
        </p:nvSpPr>
        <p:spPr>
          <a:xfrm>
            <a:off x="1131363" y="5674816"/>
            <a:ext cx="483838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Baseline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31363" y="5892701"/>
            <a:ext cx="4838381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 correction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28301" y="1504454"/>
            <a:ext cx="5308269" cy="434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spcAft>
                <a:spcPts val="350"/>
              </a:spcAft>
              <a:buNone/>
            </a:pPr>
            <a:endParaRPr lang="en-US" sz="16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0334113-C2C4-4205-9A86-806F655EB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696" y="6568415"/>
            <a:ext cx="1661304" cy="28958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904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Machine Learning / Chemometric Models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67631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 Quantitative Prediction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203" y="1772940"/>
            <a:ext cx="239210" cy="239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9681" y="1768078"/>
            <a:ext cx="472160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PLSR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79681" y="2151757"/>
            <a:ext cx="4721603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Partial Least Squares Regression — particularly common in milk spectroscopy research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203" y="2895997"/>
            <a:ext cx="239210" cy="2392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9681" y="2891135"/>
            <a:ext cx="472160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PCR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179681" y="3274814"/>
            <a:ext cx="47216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Principal Component Regression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203" y="3783905"/>
            <a:ext cx="239210" cy="2392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9681" y="3779044"/>
            <a:ext cx="472160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SVR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179681" y="4162723"/>
            <a:ext cx="47216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Vector Regression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203" y="4671814"/>
            <a:ext cx="239210" cy="23921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9681" y="4666952"/>
            <a:ext cx="472160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Random Forest Regression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179681" y="5050631"/>
            <a:ext cx="47216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Ensemble tree-based method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203" y="5559723"/>
            <a:ext cx="239210" cy="23921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79681" y="5554861"/>
            <a:ext cx="472160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ANN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1179681" y="5938540"/>
            <a:ext cx="47216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Neural Networks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6296760" y="1367631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 Classification</a:t>
            </a:r>
            <a:endParaRPr lang="en-US" sz="15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6489" y="1772940"/>
            <a:ext cx="239210" cy="23921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14967" y="1768078"/>
            <a:ext cx="472160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PLS-DA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6814967" y="2151757"/>
            <a:ext cx="47216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Partial Least Squares Discriminant Analysis</a:t>
            </a:r>
            <a:endParaRPr lang="en-US" sz="12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6489" y="2660848"/>
            <a:ext cx="239210" cy="23921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814967" y="2655987"/>
            <a:ext cx="472160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SVM</a:t>
            </a:r>
            <a:endParaRPr lang="en-US" sz="1550" dirty="0"/>
          </a:p>
        </p:txBody>
      </p:sp>
      <p:sp>
        <p:nvSpPr>
          <p:cNvPr id="25" name="Text 16"/>
          <p:cNvSpPr/>
          <p:nvPr/>
        </p:nvSpPr>
        <p:spPr>
          <a:xfrm>
            <a:off x="6814967" y="3039666"/>
            <a:ext cx="47216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Vector Machine</a:t>
            </a:r>
            <a:endParaRPr lang="en-US" sz="12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6489" y="3548757"/>
            <a:ext cx="239210" cy="23921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814967" y="3543895"/>
            <a:ext cx="472160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Random Forest</a:t>
            </a:r>
            <a:endParaRPr lang="en-US" sz="1550" dirty="0"/>
          </a:p>
        </p:txBody>
      </p:sp>
      <p:sp>
        <p:nvSpPr>
          <p:cNvPr id="28" name="Text 18"/>
          <p:cNvSpPr/>
          <p:nvPr/>
        </p:nvSpPr>
        <p:spPr>
          <a:xfrm>
            <a:off x="6814967" y="3927574"/>
            <a:ext cx="47216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Ensemble classification</a:t>
            </a:r>
            <a:endParaRPr lang="en-US" sz="125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6489" y="4436666"/>
            <a:ext cx="239210" cy="23921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814967" y="4431804"/>
            <a:ext cx="472160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Neural Networks</a:t>
            </a:r>
            <a:endParaRPr lang="en-US" sz="1550" dirty="0"/>
          </a:p>
        </p:txBody>
      </p:sp>
      <p:sp>
        <p:nvSpPr>
          <p:cNvPr id="31" name="Text 20"/>
          <p:cNvSpPr/>
          <p:nvPr/>
        </p:nvSpPr>
        <p:spPr>
          <a:xfrm>
            <a:off x="6814967" y="4815483"/>
            <a:ext cx="472160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and shallow architectures</a:t>
            </a:r>
            <a:endParaRPr lang="en-US" sz="1250" dirty="0"/>
          </a:p>
        </p:txBody>
      </p:sp>
      <p:sp>
        <p:nvSpPr>
          <p:cNvPr id="32" name="Shape 21"/>
          <p:cNvSpPr/>
          <p:nvPr/>
        </p:nvSpPr>
        <p:spPr>
          <a:xfrm>
            <a:off x="6296760" y="5201940"/>
            <a:ext cx="5239810" cy="791964"/>
          </a:xfrm>
          <a:prstGeom prst="roundRect">
            <a:avLst>
              <a:gd name="adj" fmla="val 3021"/>
            </a:avLst>
          </a:prstGeom>
          <a:solidFill>
            <a:srgbClr val="D7D6F5"/>
          </a:solidFill>
          <a:ln/>
        </p:spPr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201" y="5414466"/>
            <a:ext cx="199325" cy="159445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814967" y="5362773"/>
            <a:ext cx="4562162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SVM, RF and ANN are increasingly being investigated alongside the established PLSR approach.</a:t>
            </a:r>
            <a:endParaRPr lang="en-US" sz="12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6033C21-66E2-41A2-91A5-C7756AFC77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696" y="6568415"/>
            <a:ext cx="1661304" cy="28958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2634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Research Opportunity &amp; 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901527"/>
            <a:ext cx="695119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Proposed Research Workflow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14166"/>
            <a:ext cx="6951191" cy="26084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77962" y="4088412"/>
            <a:ext cx="1048443" cy="403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PLSR &amp; ML Models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956637" y="4088412"/>
            <a:ext cx="1048443" cy="403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Selection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642492" y="4088412"/>
            <a:ext cx="1048443" cy="403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328348" y="4088412"/>
            <a:ext cx="1048443" cy="403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NIR/FTIR Spectra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85479" y="4088412"/>
            <a:ext cx="1048443" cy="403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Milk Samples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43254" y="1241425"/>
            <a:ext cx="3593216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Possible Research Objectives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35556" y="1599704"/>
            <a:ext cx="32009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Composition Prediction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335556" y="1900634"/>
            <a:ext cx="32009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 fat, protein and lactose from milk spectra.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335556" y="2314178"/>
            <a:ext cx="32009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Adulteration Detection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35556" y="2615109"/>
            <a:ext cx="3200915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Investigate urea/adulteration detection using spectral signatures.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335556" y="3209727"/>
            <a:ext cx="32009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Comparison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335556" y="3510657"/>
            <a:ext cx="32009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PLSR, SVM, Random Forest and ANN.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35556" y="3924201"/>
            <a:ext cx="32009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Preprocessing Optimization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35556" y="4225131"/>
            <a:ext cx="3200915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the most useful spectral preprocessing method.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35556" y="4819749"/>
            <a:ext cx="32009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Assessment Framework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35556" y="5120680"/>
            <a:ext cx="3200915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a rapid, non-destructive milk quality assessment framework.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60800" y="5798046"/>
            <a:ext cx="10669420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D8FBB08-DEDE-46AB-9180-3925D8EB3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696" y="6548801"/>
            <a:ext cx="1661304" cy="28958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474</Words>
  <Application>Microsoft Office PowerPoint</Application>
  <PresentationFormat>Widescreen</PresentationFormat>
  <Paragraphs>119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Open Sans</vt:lpstr>
      <vt:lpstr>Open Sans Bold</vt:lpstr>
      <vt:lpstr>Libre Baskerville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Abu Rayhan</dc:creator>
  <cp:lastModifiedBy>Abu Rayhan</cp:lastModifiedBy>
  <cp:revision>3</cp:revision>
  <dcterms:created xsi:type="dcterms:W3CDTF">2026-09-26T18:29:30Z</dcterms:created>
  <dcterms:modified xsi:type="dcterms:W3CDTF">2026-09-26T18:48:22Z</dcterms:modified>
</cp:coreProperties>
</file>